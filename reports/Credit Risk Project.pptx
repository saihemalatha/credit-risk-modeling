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Roboto"/>
      <p:regular r:id="rId24"/>
      <p:bold r:id="rId25"/>
      <p:italic r:id="rId26"/>
      <p:boldItalic r:id="rId27"/>
    </p:embeddedFont>
    <p:embeddedFont>
      <p:font typeface="Nunito"/>
      <p:regular r:id="rId28"/>
      <p:bold r:id="rId29"/>
      <p:italic r:id="rId30"/>
      <p:boldItalic r:id="rId31"/>
    </p:embeddedFont>
    <p:embeddedFont>
      <p:font typeface="Maven Pro"/>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2qkjpkLA8cqetArUQPfpCxs2S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E71C27-0CDF-4641-BA4E-4B8CD2B942D0}">
  <a:tblStyle styleId="{9CE71C27-0CDF-4641-BA4E-4B8CD2B942D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Nunito-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6.xml"/><Relationship Id="rId33" Type="http://schemas.openxmlformats.org/officeDocument/2006/relationships/font" Target="fonts/MavenPro-bold.fntdata"/><Relationship Id="rId10" Type="http://schemas.openxmlformats.org/officeDocument/2006/relationships/slide" Target="slides/slide5.xml"/><Relationship Id="rId32" Type="http://schemas.openxmlformats.org/officeDocument/2006/relationships/font" Target="fonts/MavenPro-regular.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g3404431b78d_8_1108"/>
          <p:cNvGrpSpPr/>
          <p:nvPr/>
        </p:nvGrpSpPr>
        <p:grpSpPr>
          <a:xfrm>
            <a:off x="9790426" y="4546120"/>
            <a:ext cx="2255173" cy="2310006"/>
            <a:chOff x="7343003" y="3409675"/>
            <a:chExt cx="1691422" cy="1732548"/>
          </a:xfrm>
        </p:grpSpPr>
        <p:grpSp>
          <p:nvGrpSpPr>
            <p:cNvPr id="11" name="Google Shape;11;g3404431b78d_8_1108"/>
            <p:cNvGrpSpPr/>
            <p:nvPr/>
          </p:nvGrpSpPr>
          <p:grpSpPr>
            <a:xfrm>
              <a:off x="7343003" y="4453711"/>
              <a:ext cx="316800" cy="688513"/>
              <a:chOff x="7343003" y="4453711"/>
              <a:chExt cx="316800" cy="688513"/>
            </a:xfrm>
          </p:grpSpPr>
          <p:sp>
            <p:nvSpPr>
              <p:cNvPr id="12" name="Google Shape;12;g3404431b78d_8_1108"/>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 name="Google Shape;13;g3404431b78d_8_1108"/>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 name="Google Shape;14;g3404431b78d_8_1108"/>
            <p:cNvGrpSpPr/>
            <p:nvPr/>
          </p:nvGrpSpPr>
          <p:grpSpPr>
            <a:xfrm>
              <a:off x="7801210" y="4105700"/>
              <a:ext cx="316800" cy="1036523"/>
              <a:chOff x="7801210" y="4105700"/>
              <a:chExt cx="316800" cy="1036523"/>
            </a:xfrm>
          </p:grpSpPr>
          <p:sp>
            <p:nvSpPr>
              <p:cNvPr id="15" name="Google Shape;15;g3404431b78d_8_1108"/>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 name="Google Shape;16;g3404431b78d_8_1108"/>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 name="Google Shape;17;g3404431b78d_8_1108"/>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 name="Google Shape;18;g3404431b78d_8_1108"/>
            <p:cNvGrpSpPr/>
            <p:nvPr/>
          </p:nvGrpSpPr>
          <p:grpSpPr>
            <a:xfrm>
              <a:off x="8259418" y="3757688"/>
              <a:ext cx="316800" cy="1384535"/>
              <a:chOff x="8259418" y="3757688"/>
              <a:chExt cx="316800" cy="1384535"/>
            </a:xfrm>
          </p:grpSpPr>
          <p:sp>
            <p:nvSpPr>
              <p:cNvPr id="19" name="Google Shape;19;g3404431b78d_8_1108"/>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 name="Google Shape;20;g3404431b78d_8_1108"/>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 name="Google Shape;21;g3404431b78d_8_1108"/>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 name="Google Shape;22;g3404431b78d_8_1108"/>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3" name="Google Shape;23;g3404431b78d_8_1108"/>
            <p:cNvGrpSpPr/>
            <p:nvPr/>
          </p:nvGrpSpPr>
          <p:grpSpPr>
            <a:xfrm>
              <a:off x="8717625" y="3409675"/>
              <a:ext cx="316800" cy="1732548"/>
              <a:chOff x="8717625" y="3409675"/>
              <a:chExt cx="316800" cy="1732548"/>
            </a:xfrm>
          </p:grpSpPr>
          <p:sp>
            <p:nvSpPr>
              <p:cNvPr id="24" name="Google Shape;24;g3404431b78d_8_1108"/>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g3404431b78d_8_1108"/>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 name="Google Shape;26;g3404431b78d_8_1108"/>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g3404431b78d_8_1108"/>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g3404431b78d_8_1108"/>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grpSp>
        <p:nvGrpSpPr>
          <p:cNvPr id="29" name="Google Shape;29;g3404431b78d_8_1108"/>
          <p:cNvGrpSpPr/>
          <p:nvPr/>
        </p:nvGrpSpPr>
        <p:grpSpPr>
          <a:xfrm>
            <a:off x="6724502" y="0"/>
            <a:ext cx="5085303" cy="5118675"/>
            <a:chOff x="5043503" y="0"/>
            <a:chExt cx="3814072" cy="3839102"/>
          </a:xfrm>
        </p:grpSpPr>
        <p:sp>
          <p:nvSpPr>
            <p:cNvPr id="30" name="Google Shape;30;g3404431b78d_8_1108"/>
            <p:cNvSpPr/>
            <p:nvPr/>
          </p:nvSpPr>
          <p:spPr>
            <a:xfrm>
              <a:off x="8460975" y="1817775"/>
              <a:ext cx="396600" cy="39660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 name="Google Shape;31;g3404431b78d_8_1108"/>
            <p:cNvSpPr/>
            <p:nvPr/>
          </p:nvSpPr>
          <p:spPr>
            <a:xfrm rot="-9830444">
              <a:off x="6469759" y="3480728"/>
              <a:ext cx="320148" cy="320148"/>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2" name="Google Shape;32;g3404431b78d_8_1108"/>
            <p:cNvGrpSpPr/>
            <p:nvPr/>
          </p:nvGrpSpPr>
          <p:grpSpPr>
            <a:xfrm>
              <a:off x="7647812" y="2704283"/>
              <a:ext cx="635219" cy="635219"/>
              <a:chOff x="6725724" y="2701260"/>
              <a:chExt cx="1208101" cy="1208100"/>
            </a:xfrm>
          </p:grpSpPr>
          <p:sp>
            <p:nvSpPr>
              <p:cNvPr id="33" name="Google Shape;33;g3404431b78d_8_1108"/>
              <p:cNvSpPr/>
              <p:nvPr/>
            </p:nvSpPr>
            <p:spPr>
              <a:xfrm rot="5400000">
                <a:off x="6725725" y="2701260"/>
                <a:ext cx="1208100" cy="120810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 name="Google Shape;34;g3404431b78d_8_1108"/>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g3404431b78d_8_1108"/>
              <p:cNvSpPr/>
              <p:nvPr/>
            </p:nvSpPr>
            <p:spPr>
              <a:xfrm rot="5400000">
                <a:off x="6954988" y="2930398"/>
                <a:ext cx="749700" cy="74970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6" name="Google Shape;36;g3404431b78d_8_1108"/>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7" name="Google Shape;37;g3404431b78d_8_1108"/>
            <p:cNvGrpSpPr/>
            <p:nvPr/>
          </p:nvGrpSpPr>
          <p:grpSpPr>
            <a:xfrm>
              <a:off x="7952720" y="179238"/>
              <a:ext cx="873165" cy="873003"/>
              <a:chOff x="7754428" y="208725"/>
              <a:chExt cx="541800" cy="541800"/>
            </a:xfrm>
          </p:grpSpPr>
          <p:sp>
            <p:nvSpPr>
              <p:cNvPr id="38" name="Google Shape;38;g3404431b78d_8_1108"/>
              <p:cNvSpPr/>
              <p:nvPr/>
            </p:nvSpPr>
            <p:spPr>
              <a:xfrm rot="-8647347">
                <a:off x="7831319" y="285616"/>
                <a:ext cx="388018" cy="388018"/>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 name="Google Shape;39;g3404431b78d_8_1108"/>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0" name="Google Shape;40;g3404431b78d_8_1108"/>
            <p:cNvSpPr/>
            <p:nvPr/>
          </p:nvSpPr>
          <p:spPr>
            <a:xfrm>
              <a:off x="5399840" y="356365"/>
              <a:ext cx="2577000" cy="257700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g3404431b78d_8_1108"/>
            <p:cNvSpPr/>
            <p:nvPr/>
          </p:nvSpPr>
          <p:spPr>
            <a:xfrm rot="2043858">
              <a:off x="5503813" y="460310"/>
              <a:ext cx="2369480" cy="236948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g3404431b78d_8_1108"/>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 name="Google Shape;43;g3404431b78d_8_1108"/>
            <p:cNvSpPr/>
            <p:nvPr/>
          </p:nvSpPr>
          <p:spPr>
            <a:xfrm rot="2044777">
              <a:off x="5911449" y="867729"/>
              <a:ext cx="1554223" cy="1554223"/>
            </a:xfrm>
            <a:prstGeom prst="ellips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 name="Google Shape;44;g3404431b78d_8_1108"/>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 name="Google Shape;45;g3404431b78d_8_1108"/>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6" name="Google Shape;46;g3404431b78d_8_1108"/>
          <p:cNvSpPr txBox="1"/>
          <p:nvPr>
            <p:ph type="ctrTitle"/>
          </p:nvPr>
        </p:nvSpPr>
        <p:spPr>
          <a:xfrm>
            <a:off x="1098667" y="2151750"/>
            <a:ext cx="5673900" cy="24972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g3404431b78d_8_1108"/>
          <p:cNvSpPr txBox="1"/>
          <p:nvPr>
            <p:ph idx="1" type="subTitle"/>
          </p:nvPr>
        </p:nvSpPr>
        <p:spPr>
          <a:xfrm>
            <a:off x="1098667" y="4795067"/>
            <a:ext cx="5673900" cy="9273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48" name="Google Shape;48;g3404431b78d_8_1108"/>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g3404431b78d_8_1148"/>
          <p:cNvGrpSpPr/>
          <p:nvPr/>
        </p:nvGrpSpPr>
        <p:grpSpPr>
          <a:xfrm>
            <a:off x="195687" y="4541"/>
            <a:ext cx="1644245" cy="1846001"/>
            <a:chOff x="146769" y="3406"/>
            <a:chExt cx="1233215" cy="1384535"/>
          </a:xfrm>
        </p:grpSpPr>
        <p:grpSp>
          <p:nvGrpSpPr>
            <p:cNvPr id="51" name="Google Shape;51;g3404431b78d_8_1148"/>
            <p:cNvGrpSpPr/>
            <p:nvPr/>
          </p:nvGrpSpPr>
          <p:grpSpPr>
            <a:xfrm>
              <a:off x="1063183" y="3406"/>
              <a:ext cx="316800" cy="688513"/>
              <a:chOff x="1063183" y="3406"/>
              <a:chExt cx="316800" cy="688513"/>
            </a:xfrm>
          </p:grpSpPr>
          <p:sp>
            <p:nvSpPr>
              <p:cNvPr id="52" name="Google Shape;52;g3404431b78d_8_1148"/>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 name="Google Shape;53;g3404431b78d_8_1148"/>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54" name="Google Shape;54;g3404431b78d_8_1148"/>
            <p:cNvGrpSpPr/>
            <p:nvPr/>
          </p:nvGrpSpPr>
          <p:grpSpPr>
            <a:xfrm>
              <a:off x="604976" y="3406"/>
              <a:ext cx="316800" cy="1036524"/>
              <a:chOff x="604976" y="3406"/>
              <a:chExt cx="316800" cy="1036524"/>
            </a:xfrm>
          </p:grpSpPr>
          <p:sp>
            <p:nvSpPr>
              <p:cNvPr id="55" name="Google Shape;55;g3404431b78d_8_1148"/>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 name="Google Shape;56;g3404431b78d_8_1148"/>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 name="Google Shape;57;g3404431b78d_8_1148"/>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58" name="Google Shape;58;g3404431b78d_8_1148"/>
            <p:cNvGrpSpPr/>
            <p:nvPr/>
          </p:nvGrpSpPr>
          <p:grpSpPr>
            <a:xfrm>
              <a:off x="146769" y="3406"/>
              <a:ext cx="316800" cy="1384535"/>
              <a:chOff x="146769" y="3406"/>
              <a:chExt cx="316800" cy="1384535"/>
            </a:xfrm>
          </p:grpSpPr>
          <p:sp>
            <p:nvSpPr>
              <p:cNvPr id="59" name="Google Shape;59;g3404431b78d_8_1148"/>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 name="Google Shape;60;g3404431b78d_8_1148"/>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 name="Google Shape;61;g3404431b78d_8_1148"/>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 name="Google Shape;62;g3404431b78d_8_1148"/>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grpSp>
        <p:nvGrpSpPr>
          <p:cNvPr id="63" name="Google Shape;63;g3404431b78d_8_1148"/>
          <p:cNvGrpSpPr/>
          <p:nvPr/>
        </p:nvGrpSpPr>
        <p:grpSpPr>
          <a:xfrm>
            <a:off x="9033219" y="3871914"/>
            <a:ext cx="2914791" cy="2985925"/>
            <a:chOff x="6775084" y="2904008"/>
            <a:chExt cx="2186148" cy="2239500"/>
          </a:xfrm>
        </p:grpSpPr>
        <p:grpSp>
          <p:nvGrpSpPr>
            <p:cNvPr id="64" name="Google Shape;64;g3404431b78d_8_1148"/>
            <p:cNvGrpSpPr/>
            <p:nvPr/>
          </p:nvGrpSpPr>
          <p:grpSpPr>
            <a:xfrm>
              <a:off x="6775084" y="4253708"/>
              <a:ext cx="409500" cy="889800"/>
              <a:chOff x="6775084" y="4253708"/>
              <a:chExt cx="409500" cy="889800"/>
            </a:xfrm>
          </p:grpSpPr>
          <p:sp>
            <p:nvSpPr>
              <p:cNvPr id="65" name="Google Shape;65;g3404431b78d_8_1148"/>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 name="Google Shape;66;g3404431b78d_8_1148"/>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67" name="Google Shape;67;g3404431b78d_8_1148"/>
            <p:cNvGrpSpPr/>
            <p:nvPr/>
          </p:nvGrpSpPr>
          <p:grpSpPr>
            <a:xfrm>
              <a:off x="7367299" y="3804008"/>
              <a:ext cx="409500" cy="1339500"/>
              <a:chOff x="7367299" y="3804008"/>
              <a:chExt cx="409500" cy="1339500"/>
            </a:xfrm>
          </p:grpSpPr>
          <p:sp>
            <p:nvSpPr>
              <p:cNvPr id="68" name="Google Shape;68;g3404431b78d_8_1148"/>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 name="Google Shape;69;g3404431b78d_8_1148"/>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 name="Google Shape;70;g3404431b78d_8_1148"/>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71" name="Google Shape;71;g3404431b78d_8_1148"/>
            <p:cNvGrpSpPr/>
            <p:nvPr/>
          </p:nvGrpSpPr>
          <p:grpSpPr>
            <a:xfrm>
              <a:off x="7959516" y="3354008"/>
              <a:ext cx="409500" cy="1789500"/>
              <a:chOff x="7959516" y="3354008"/>
              <a:chExt cx="409500" cy="1789500"/>
            </a:xfrm>
          </p:grpSpPr>
          <p:sp>
            <p:nvSpPr>
              <p:cNvPr id="72" name="Google Shape;72;g3404431b78d_8_1148"/>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 name="Google Shape;73;g3404431b78d_8_1148"/>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 name="Google Shape;74;g3404431b78d_8_1148"/>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 name="Google Shape;75;g3404431b78d_8_1148"/>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76" name="Google Shape;76;g3404431b78d_8_1148"/>
            <p:cNvGrpSpPr/>
            <p:nvPr/>
          </p:nvGrpSpPr>
          <p:grpSpPr>
            <a:xfrm>
              <a:off x="8551731" y="2904008"/>
              <a:ext cx="409500" cy="2239500"/>
              <a:chOff x="8551731" y="2904008"/>
              <a:chExt cx="409500" cy="2239500"/>
            </a:xfrm>
          </p:grpSpPr>
          <p:sp>
            <p:nvSpPr>
              <p:cNvPr id="77" name="Google Shape;77;g3404431b78d_8_1148"/>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 name="Google Shape;78;g3404431b78d_8_1148"/>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g3404431b78d_8_1148"/>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 name="Google Shape;80;g3404431b78d_8_1148"/>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 name="Google Shape;81;g3404431b78d_8_1148"/>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82" name="Google Shape;82;g3404431b78d_8_1148"/>
          <p:cNvSpPr txBox="1"/>
          <p:nvPr>
            <p:ph type="title"/>
          </p:nvPr>
        </p:nvSpPr>
        <p:spPr>
          <a:xfrm>
            <a:off x="1098667" y="2151767"/>
            <a:ext cx="7810500" cy="24972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83" name="Google Shape;83;g3404431b78d_8_1148"/>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g3404431b78d_8_1183"/>
          <p:cNvGrpSpPr/>
          <p:nvPr/>
        </p:nvGrpSpPr>
        <p:grpSpPr>
          <a:xfrm>
            <a:off x="834621" y="399168"/>
            <a:ext cx="1332416" cy="1332416"/>
            <a:chOff x="348199" y="179450"/>
            <a:chExt cx="1116300" cy="1116300"/>
          </a:xfrm>
        </p:grpSpPr>
        <p:sp>
          <p:nvSpPr>
            <p:cNvPr id="86" name="Google Shape;86;g3404431b78d_8_1183"/>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 name="Google Shape;87;g3404431b78d_8_1183"/>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88" name="Google Shape;88;g3404431b78d_8_1183"/>
          <p:cNvSpPr txBox="1"/>
          <p:nvPr>
            <p:ph type="title"/>
          </p:nvPr>
        </p:nvSpPr>
        <p:spPr>
          <a:xfrm>
            <a:off x="1738400" y="798100"/>
            <a:ext cx="9374100" cy="13323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89" name="Google Shape;89;g3404431b78d_8_1183"/>
          <p:cNvSpPr txBox="1"/>
          <p:nvPr>
            <p:ph idx="1" type="body"/>
          </p:nvPr>
        </p:nvSpPr>
        <p:spPr>
          <a:xfrm>
            <a:off x="1738400" y="2653400"/>
            <a:ext cx="9374100" cy="3388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90" name="Google Shape;90;g3404431b78d_8_1183"/>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g3404431b78d_8_1190"/>
          <p:cNvGrpSpPr/>
          <p:nvPr/>
        </p:nvGrpSpPr>
        <p:grpSpPr>
          <a:xfrm>
            <a:off x="834621" y="399168"/>
            <a:ext cx="1332416" cy="1332416"/>
            <a:chOff x="348199" y="179450"/>
            <a:chExt cx="1116300" cy="1116300"/>
          </a:xfrm>
        </p:grpSpPr>
        <p:sp>
          <p:nvSpPr>
            <p:cNvPr id="93" name="Google Shape;93;g3404431b78d_8_119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 name="Google Shape;94;g3404431b78d_8_119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5" name="Google Shape;95;g3404431b78d_8_1190"/>
          <p:cNvSpPr txBox="1"/>
          <p:nvPr>
            <p:ph type="title"/>
          </p:nvPr>
        </p:nvSpPr>
        <p:spPr>
          <a:xfrm>
            <a:off x="1738400" y="798100"/>
            <a:ext cx="9374100" cy="13323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96" name="Google Shape;96;g3404431b78d_8_1190"/>
          <p:cNvSpPr txBox="1"/>
          <p:nvPr>
            <p:ph idx="1" type="body"/>
          </p:nvPr>
        </p:nvSpPr>
        <p:spPr>
          <a:xfrm>
            <a:off x="1738400" y="2653400"/>
            <a:ext cx="4574100" cy="3388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97" name="Google Shape;97;g3404431b78d_8_1190"/>
          <p:cNvSpPr txBox="1"/>
          <p:nvPr>
            <p:ph idx="2" type="body"/>
          </p:nvPr>
        </p:nvSpPr>
        <p:spPr>
          <a:xfrm>
            <a:off x="6538200" y="2653400"/>
            <a:ext cx="4574100" cy="3388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98" name="Google Shape;98;g3404431b78d_8_1190"/>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g3404431b78d_8_1198"/>
          <p:cNvGrpSpPr/>
          <p:nvPr/>
        </p:nvGrpSpPr>
        <p:grpSpPr>
          <a:xfrm>
            <a:off x="834621" y="399168"/>
            <a:ext cx="1332416" cy="1332416"/>
            <a:chOff x="348199" y="179450"/>
            <a:chExt cx="1116300" cy="1116300"/>
          </a:xfrm>
        </p:grpSpPr>
        <p:sp>
          <p:nvSpPr>
            <p:cNvPr id="101" name="Google Shape;101;g3404431b78d_8_1198"/>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 name="Google Shape;102;g3404431b78d_8_1198"/>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3" name="Google Shape;103;g3404431b78d_8_1198"/>
          <p:cNvSpPr txBox="1"/>
          <p:nvPr>
            <p:ph type="title"/>
          </p:nvPr>
        </p:nvSpPr>
        <p:spPr>
          <a:xfrm>
            <a:off x="1738400" y="798100"/>
            <a:ext cx="9374100" cy="13323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04" name="Google Shape;104;g3404431b78d_8_1198"/>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g3404431b78d_8_1204"/>
          <p:cNvGrpSpPr/>
          <p:nvPr/>
        </p:nvGrpSpPr>
        <p:grpSpPr>
          <a:xfrm>
            <a:off x="834621" y="399168"/>
            <a:ext cx="1332416" cy="1332416"/>
            <a:chOff x="348199" y="179450"/>
            <a:chExt cx="1116300" cy="1116300"/>
          </a:xfrm>
        </p:grpSpPr>
        <p:sp>
          <p:nvSpPr>
            <p:cNvPr id="107" name="Google Shape;107;g3404431b78d_8_120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 name="Google Shape;108;g3404431b78d_8_120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9" name="Google Shape;109;g3404431b78d_8_1204"/>
          <p:cNvSpPr txBox="1"/>
          <p:nvPr>
            <p:ph type="title"/>
          </p:nvPr>
        </p:nvSpPr>
        <p:spPr>
          <a:xfrm>
            <a:off x="1738400" y="798100"/>
            <a:ext cx="4416000" cy="21201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10" name="Google Shape;110;g3404431b78d_8_1204"/>
          <p:cNvSpPr txBox="1"/>
          <p:nvPr>
            <p:ph idx="1" type="body"/>
          </p:nvPr>
        </p:nvSpPr>
        <p:spPr>
          <a:xfrm>
            <a:off x="1738400" y="3079567"/>
            <a:ext cx="4416000" cy="29625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11" name="Google Shape;111;g3404431b78d_8_1204"/>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g3404431b78d_8_1211"/>
          <p:cNvGrpSpPr/>
          <p:nvPr/>
        </p:nvGrpSpPr>
        <p:grpSpPr>
          <a:xfrm>
            <a:off x="9155392" y="1742"/>
            <a:ext cx="3023192" cy="3468833"/>
            <a:chOff x="6790514" y="1306"/>
            <a:chExt cx="2267451" cy="2601690"/>
          </a:xfrm>
        </p:grpSpPr>
        <p:grpSp>
          <p:nvGrpSpPr>
            <p:cNvPr id="114" name="Google Shape;114;g3404431b78d_8_1211"/>
            <p:cNvGrpSpPr/>
            <p:nvPr/>
          </p:nvGrpSpPr>
          <p:grpSpPr>
            <a:xfrm>
              <a:off x="7067465" y="1306"/>
              <a:ext cx="1990500" cy="1990200"/>
              <a:chOff x="7067465" y="1306"/>
              <a:chExt cx="1990500" cy="1990200"/>
            </a:xfrm>
          </p:grpSpPr>
          <p:sp>
            <p:nvSpPr>
              <p:cNvPr id="115" name="Google Shape;115;g3404431b78d_8_1211"/>
              <p:cNvSpPr/>
              <p:nvPr/>
            </p:nvSpPr>
            <p:spPr>
              <a:xfrm rot="-8648551">
                <a:off x="7594313" y="527721"/>
                <a:ext cx="937226" cy="937226"/>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 name="Google Shape;116;g3404431b78d_8_1211"/>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 name="Google Shape;117;g3404431b78d_8_1211"/>
              <p:cNvSpPr/>
              <p:nvPr/>
            </p:nvSpPr>
            <p:spPr>
              <a:xfrm rot="-8649154">
                <a:off x="7349891" y="283705"/>
                <a:ext cx="1425647" cy="1425404"/>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18" name="Google Shape;118;g3404431b78d_8_1211"/>
            <p:cNvGrpSpPr/>
            <p:nvPr/>
          </p:nvGrpSpPr>
          <p:grpSpPr>
            <a:xfrm>
              <a:off x="8207126" y="1807996"/>
              <a:ext cx="795000" cy="795000"/>
              <a:chOff x="8207126" y="1807996"/>
              <a:chExt cx="795000" cy="795000"/>
            </a:xfrm>
          </p:grpSpPr>
          <p:sp>
            <p:nvSpPr>
              <p:cNvPr id="119" name="Google Shape;119;g3404431b78d_8_1211"/>
              <p:cNvSpPr/>
              <p:nvPr/>
            </p:nvSpPr>
            <p:spPr>
              <a:xfrm rot="2152054">
                <a:off x="8319942" y="1920813"/>
                <a:ext cx="569367" cy="569367"/>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 name="Google Shape;120;g3404431b78d_8_1211"/>
              <p:cNvSpPr/>
              <p:nvPr/>
            </p:nvSpPr>
            <p:spPr>
              <a:xfrm rot="2150259">
                <a:off x="8408218" y="2008610"/>
                <a:ext cx="393004" cy="393004"/>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 name="Google Shape;121;g3404431b78d_8_1211"/>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2" name="Google Shape;122;g3404431b78d_8_1211"/>
            <p:cNvGrpSpPr/>
            <p:nvPr/>
          </p:nvGrpSpPr>
          <p:grpSpPr>
            <a:xfrm>
              <a:off x="6790514" y="118857"/>
              <a:ext cx="548700" cy="548700"/>
              <a:chOff x="6790514" y="118857"/>
              <a:chExt cx="548700" cy="548700"/>
            </a:xfrm>
          </p:grpSpPr>
          <p:sp>
            <p:nvSpPr>
              <p:cNvPr id="123" name="Google Shape;123;g3404431b78d_8_1211"/>
              <p:cNvSpPr/>
              <p:nvPr/>
            </p:nvSpPr>
            <p:spPr>
              <a:xfrm rot="2150259">
                <a:off x="6868362" y="196705"/>
                <a:ext cx="393004" cy="393004"/>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 name="Google Shape;124;g3404431b78d_8_1211"/>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125" name="Google Shape;125;g3404431b78d_8_1211"/>
          <p:cNvSpPr txBox="1"/>
          <p:nvPr>
            <p:ph type="title"/>
          </p:nvPr>
        </p:nvSpPr>
        <p:spPr>
          <a:xfrm>
            <a:off x="1098667" y="1018133"/>
            <a:ext cx="7810500" cy="476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6" name="Google Shape;126;g3404431b78d_8_1211"/>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g3404431b78d_8_1226"/>
          <p:cNvGrpSpPr/>
          <p:nvPr/>
        </p:nvGrpSpPr>
        <p:grpSpPr>
          <a:xfrm>
            <a:off x="834621" y="399168"/>
            <a:ext cx="1332416" cy="1332416"/>
            <a:chOff x="348199" y="179450"/>
            <a:chExt cx="1116300" cy="1116300"/>
          </a:xfrm>
        </p:grpSpPr>
        <p:sp>
          <p:nvSpPr>
            <p:cNvPr id="129" name="Google Shape;129;g3404431b78d_8_122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 name="Google Shape;130;g3404431b78d_8_122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1" name="Google Shape;131;g3404431b78d_8_1226"/>
          <p:cNvSpPr txBox="1"/>
          <p:nvPr>
            <p:ph type="title"/>
          </p:nvPr>
        </p:nvSpPr>
        <p:spPr>
          <a:xfrm>
            <a:off x="1738400" y="798100"/>
            <a:ext cx="4574100" cy="2653500"/>
          </a:xfrm>
          <a:prstGeom prst="rect">
            <a:avLst/>
          </a:prstGeom>
          <a:ln cap="flat" cmpd="sng" w="9525">
            <a:solidFill>
              <a:schemeClr val="lt1"/>
            </a:solidFill>
            <a:prstDash val="solid"/>
            <a:round/>
            <a:headEnd len="sm" w="sm" type="none"/>
            <a:tailEnd len="sm" w="sm" type="none"/>
          </a:ln>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32" name="Google Shape;132;g3404431b78d_8_1226"/>
          <p:cNvSpPr txBox="1"/>
          <p:nvPr>
            <p:ph idx="1" type="subTitle"/>
          </p:nvPr>
        </p:nvSpPr>
        <p:spPr>
          <a:xfrm>
            <a:off x="1738400" y="3657604"/>
            <a:ext cx="4574100" cy="968100"/>
          </a:xfrm>
          <a:prstGeom prst="rect">
            <a:avLst/>
          </a:prstGeom>
          <a:ln cap="flat" cmpd="sng" w="9525">
            <a:solidFill>
              <a:schemeClr val="lt1"/>
            </a:solidFill>
            <a:prstDash val="solid"/>
            <a:round/>
            <a:headEnd len="sm" w="sm" type="none"/>
            <a:tailEnd len="sm" w="sm" type="none"/>
          </a:ln>
        </p:spPr>
        <p:txBody>
          <a:bodyPr anchorCtr="0" anchor="t" bIns="121900" lIns="121900" spcFirstLastPara="1" rIns="121900" wrap="square" tIns="121900">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133" name="Google Shape;133;g3404431b78d_8_1226"/>
          <p:cNvSpPr txBox="1"/>
          <p:nvPr>
            <p:ph idx="2" type="body"/>
          </p:nvPr>
        </p:nvSpPr>
        <p:spPr>
          <a:xfrm>
            <a:off x="6538267" y="881333"/>
            <a:ext cx="4574100" cy="5160900"/>
          </a:xfrm>
          <a:prstGeom prst="rect">
            <a:avLst/>
          </a:prstGeom>
          <a:ln cap="flat" cmpd="sng" w="9525">
            <a:solidFill>
              <a:schemeClr val="lt1"/>
            </a:solidFill>
            <a:prstDash val="solid"/>
            <a:round/>
            <a:headEnd len="sm" w="sm" type="none"/>
            <a:tailEnd len="sm" w="sm" type="none"/>
          </a:ln>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34" name="Google Shape;134;g3404431b78d_8_1226"/>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g3404431b78d_8_1234"/>
          <p:cNvGrpSpPr/>
          <p:nvPr/>
        </p:nvGrpSpPr>
        <p:grpSpPr>
          <a:xfrm>
            <a:off x="951176" y="5129497"/>
            <a:ext cx="1100560" cy="1100560"/>
            <a:chOff x="348199" y="179450"/>
            <a:chExt cx="1116300" cy="1116300"/>
          </a:xfrm>
        </p:grpSpPr>
        <p:sp>
          <p:nvSpPr>
            <p:cNvPr id="137" name="Google Shape;137;g3404431b78d_8_123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 name="Google Shape;138;g3404431b78d_8_123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9" name="Google Shape;139;g3404431b78d_8_1234"/>
          <p:cNvSpPr txBox="1"/>
          <p:nvPr>
            <p:ph idx="1" type="body"/>
          </p:nvPr>
        </p:nvSpPr>
        <p:spPr>
          <a:xfrm>
            <a:off x="1738400" y="5518633"/>
            <a:ext cx="7790700" cy="713100"/>
          </a:xfrm>
          <a:prstGeom prst="rect">
            <a:avLst/>
          </a:prstGeom>
        </p:spPr>
        <p:txBody>
          <a:bodyPr anchorCtr="0" anchor="t" bIns="121900" lIns="121900" spcFirstLastPara="1" rIns="121900" wrap="square" tIns="121900">
            <a:normAutofit/>
          </a:bodyPr>
          <a:lstStyle>
            <a:lvl1pPr indent="-228600" lvl="0" marL="457200">
              <a:lnSpc>
                <a:spcPct val="100000"/>
              </a:lnSpc>
              <a:spcBef>
                <a:spcPts val="0"/>
              </a:spcBef>
              <a:spcAft>
                <a:spcPts val="0"/>
              </a:spcAft>
              <a:buSzPts val="1700"/>
              <a:buNone/>
              <a:defRPr/>
            </a:lvl1pPr>
          </a:lstStyle>
          <a:p/>
        </p:txBody>
      </p:sp>
      <p:sp>
        <p:nvSpPr>
          <p:cNvPr id="140" name="Google Shape;140;g3404431b78d_8_1234"/>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g3404431b78d_8_1240"/>
          <p:cNvGrpSpPr/>
          <p:nvPr/>
        </p:nvGrpSpPr>
        <p:grpSpPr>
          <a:xfrm>
            <a:off x="69" y="5465463"/>
            <a:ext cx="12191743" cy="1392365"/>
            <a:chOff x="52" y="4099200"/>
            <a:chExt cx="9144036" cy="1044300"/>
          </a:xfrm>
        </p:grpSpPr>
        <p:grpSp>
          <p:nvGrpSpPr>
            <p:cNvPr id="143" name="Google Shape;143;g3404431b78d_8_1240"/>
            <p:cNvGrpSpPr/>
            <p:nvPr/>
          </p:nvGrpSpPr>
          <p:grpSpPr>
            <a:xfrm>
              <a:off x="52" y="4309200"/>
              <a:ext cx="231622" cy="834300"/>
              <a:chOff x="2688737" y="4301380"/>
              <a:chExt cx="231900" cy="834300"/>
            </a:xfrm>
          </p:grpSpPr>
          <p:sp>
            <p:nvSpPr>
              <p:cNvPr id="144" name="Google Shape;144;g3404431b78d_8_1240"/>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 name="Google Shape;145;g3404431b78d_8_1240"/>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 name="Google Shape;146;g3404431b78d_8_1240"/>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 name="Google Shape;147;g3404431b78d_8_1240"/>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8" name="Google Shape;148;g3404431b78d_8_1240"/>
            <p:cNvGrpSpPr/>
            <p:nvPr/>
          </p:nvGrpSpPr>
          <p:grpSpPr>
            <a:xfrm>
              <a:off x="371406" y="4099200"/>
              <a:ext cx="231622" cy="1044300"/>
              <a:chOff x="2688737" y="4091380"/>
              <a:chExt cx="231900" cy="1044300"/>
            </a:xfrm>
          </p:grpSpPr>
          <p:sp>
            <p:nvSpPr>
              <p:cNvPr id="149" name="Google Shape;149;g3404431b78d_8_1240"/>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0" name="Google Shape;150;g3404431b78d_8_1240"/>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1" name="Google Shape;151;g3404431b78d_8_1240"/>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2" name="Google Shape;152;g3404431b78d_8_1240"/>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 name="Google Shape;153;g3404431b78d_8_1240"/>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54" name="Google Shape;154;g3404431b78d_8_1240"/>
            <p:cNvGrpSpPr/>
            <p:nvPr/>
          </p:nvGrpSpPr>
          <p:grpSpPr>
            <a:xfrm>
              <a:off x="742761" y="4309200"/>
              <a:ext cx="231622" cy="834300"/>
              <a:chOff x="2688737" y="4301380"/>
              <a:chExt cx="231900" cy="834300"/>
            </a:xfrm>
          </p:grpSpPr>
          <p:sp>
            <p:nvSpPr>
              <p:cNvPr id="155" name="Google Shape;155;g3404431b78d_8_1240"/>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 name="Google Shape;156;g3404431b78d_8_1240"/>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 name="Google Shape;157;g3404431b78d_8_1240"/>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 name="Google Shape;158;g3404431b78d_8_1240"/>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59" name="Google Shape;159;g3404431b78d_8_1240"/>
            <p:cNvGrpSpPr/>
            <p:nvPr/>
          </p:nvGrpSpPr>
          <p:grpSpPr>
            <a:xfrm>
              <a:off x="1114115" y="4518900"/>
              <a:ext cx="231622" cy="624600"/>
              <a:chOff x="2688737" y="4511080"/>
              <a:chExt cx="231900" cy="624600"/>
            </a:xfrm>
          </p:grpSpPr>
          <p:sp>
            <p:nvSpPr>
              <p:cNvPr id="160" name="Google Shape;160;g3404431b78d_8_1240"/>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 name="Google Shape;161;g3404431b78d_8_1240"/>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2" name="Google Shape;162;g3404431b78d_8_1240"/>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3" name="Google Shape;163;g3404431b78d_8_1240"/>
            <p:cNvGrpSpPr/>
            <p:nvPr/>
          </p:nvGrpSpPr>
          <p:grpSpPr>
            <a:xfrm>
              <a:off x="1856753" y="4099200"/>
              <a:ext cx="231600" cy="1044300"/>
              <a:chOff x="1856753" y="4099200"/>
              <a:chExt cx="231600" cy="1044300"/>
            </a:xfrm>
          </p:grpSpPr>
          <p:sp>
            <p:nvSpPr>
              <p:cNvPr id="164" name="Google Shape;164;g3404431b78d_8_1240"/>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 name="Google Shape;165;g3404431b78d_8_1240"/>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 name="Google Shape;166;g3404431b78d_8_1240"/>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 name="Google Shape;167;g3404431b78d_8_1240"/>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 name="Google Shape;168;g3404431b78d_8_1240"/>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9" name="Google Shape;169;g3404431b78d_8_1240"/>
            <p:cNvGrpSpPr/>
            <p:nvPr/>
          </p:nvGrpSpPr>
          <p:grpSpPr>
            <a:xfrm>
              <a:off x="2228107" y="4309200"/>
              <a:ext cx="231600" cy="834300"/>
              <a:chOff x="2228107" y="4309200"/>
              <a:chExt cx="231600" cy="834300"/>
            </a:xfrm>
          </p:grpSpPr>
          <p:sp>
            <p:nvSpPr>
              <p:cNvPr id="170" name="Google Shape;170;g3404431b78d_8_1240"/>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1" name="Google Shape;171;g3404431b78d_8_1240"/>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2" name="Google Shape;172;g3404431b78d_8_1240"/>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3" name="Google Shape;173;g3404431b78d_8_1240"/>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74" name="Google Shape;174;g3404431b78d_8_1240"/>
            <p:cNvGrpSpPr/>
            <p:nvPr/>
          </p:nvGrpSpPr>
          <p:grpSpPr>
            <a:xfrm>
              <a:off x="2599462" y="4518900"/>
              <a:ext cx="231600" cy="624600"/>
              <a:chOff x="2599462" y="4518900"/>
              <a:chExt cx="231600" cy="624600"/>
            </a:xfrm>
          </p:grpSpPr>
          <p:sp>
            <p:nvSpPr>
              <p:cNvPr id="175" name="Google Shape;175;g3404431b78d_8_1240"/>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 name="Google Shape;176;g3404431b78d_8_1240"/>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 name="Google Shape;177;g3404431b78d_8_1240"/>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78" name="Google Shape;178;g3404431b78d_8_1240"/>
            <p:cNvGrpSpPr/>
            <p:nvPr/>
          </p:nvGrpSpPr>
          <p:grpSpPr>
            <a:xfrm>
              <a:off x="3342171" y="4099200"/>
              <a:ext cx="231600" cy="1044300"/>
              <a:chOff x="3342171" y="4099200"/>
              <a:chExt cx="231600" cy="1044300"/>
            </a:xfrm>
          </p:grpSpPr>
          <p:sp>
            <p:nvSpPr>
              <p:cNvPr id="179" name="Google Shape;179;g3404431b78d_8_1240"/>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 name="Google Shape;180;g3404431b78d_8_1240"/>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 name="Google Shape;181;g3404431b78d_8_1240"/>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 name="Google Shape;182;g3404431b78d_8_1240"/>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3" name="Google Shape;183;g3404431b78d_8_1240"/>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4" name="Google Shape;184;g3404431b78d_8_1240"/>
            <p:cNvGrpSpPr/>
            <p:nvPr/>
          </p:nvGrpSpPr>
          <p:grpSpPr>
            <a:xfrm>
              <a:off x="3713525" y="4309200"/>
              <a:ext cx="231600" cy="834300"/>
              <a:chOff x="3713525" y="4309200"/>
              <a:chExt cx="231600" cy="834300"/>
            </a:xfrm>
          </p:grpSpPr>
          <p:sp>
            <p:nvSpPr>
              <p:cNvPr id="185" name="Google Shape;185;g3404431b78d_8_1240"/>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6" name="Google Shape;186;g3404431b78d_8_1240"/>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 name="Google Shape;187;g3404431b78d_8_1240"/>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 name="Google Shape;188;g3404431b78d_8_1240"/>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9" name="Google Shape;189;g3404431b78d_8_1240"/>
            <p:cNvGrpSpPr/>
            <p:nvPr/>
          </p:nvGrpSpPr>
          <p:grpSpPr>
            <a:xfrm>
              <a:off x="1485398" y="4309200"/>
              <a:ext cx="231600" cy="834300"/>
              <a:chOff x="1485398" y="4309200"/>
              <a:chExt cx="231600" cy="834300"/>
            </a:xfrm>
          </p:grpSpPr>
          <p:sp>
            <p:nvSpPr>
              <p:cNvPr id="190" name="Google Shape;190;g3404431b78d_8_1240"/>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 name="Google Shape;191;g3404431b78d_8_1240"/>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 name="Google Shape;192;g3404431b78d_8_1240"/>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 name="Google Shape;193;g3404431b78d_8_1240"/>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94" name="Google Shape;194;g3404431b78d_8_1240"/>
            <p:cNvGrpSpPr/>
            <p:nvPr/>
          </p:nvGrpSpPr>
          <p:grpSpPr>
            <a:xfrm>
              <a:off x="4084879" y="4518900"/>
              <a:ext cx="231600" cy="624600"/>
              <a:chOff x="4084879" y="4518900"/>
              <a:chExt cx="231600" cy="624600"/>
            </a:xfrm>
          </p:grpSpPr>
          <p:sp>
            <p:nvSpPr>
              <p:cNvPr id="195" name="Google Shape;195;g3404431b78d_8_1240"/>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6" name="Google Shape;196;g3404431b78d_8_1240"/>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 name="Google Shape;197;g3404431b78d_8_1240"/>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98" name="Google Shape;198;g3404431b78d_8_1240"/>
            <p:cNvGrpSpPr/>
            <p:nvPr/>
          </p:nvGrpSpPr>
          <p:grpSpPr>
            <a:xfrm>
              <a:off x="2970816" y="4309200"/>
              <a:ext cx="231600" cy="834300"/>
              <a:chOff x="2970816" y="4309200"/>
              <a:chExt cx="231600" cy="834300"/>
            </a:xfrm>
          </p:grpSpPr>
          <p:sp>
            <p:nvSpPr>
              <p:cNvPr id="199" name="Google Shape;199;g3404431b78d_8_1240"/>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 name="Google Shape;200;g3404431b78d_8_1240"/>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 name="Google Shape;201;g3404431b78d_8_1240"/>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 name="Google Shape;202;g3404431b78d_8_1240"/>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03" name="Google Shape;203;g3404431b78d_8_1240"/>
            <p:cNvGrpSpPr/>
            <p:nvPr/>
          </p:nvGrpSpPr>
          <p:grpSpPr>
            <a:xfrm>
              <a:off x="4456234" y="4309200"/>
              <a:ext cx="231600" cy="834300"/>
              <a:chOff x="4456234" y="4309200"/>
              <a:chExt cx="231600" cy="834300"/>
            </a:xfrm>
          </p:grpSpPr>
          <p:sp>
            <p:nvSpPr>
              <p:cNvPr id="204" name="Google Shape;204;g3404431b78d_8_1240"/>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 name="Google Shape;205;g3404431b78d_8_1240"/>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6" name="Google Shape;206;g3404431b78d_8_1240"/>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7" name="Google Shape;207;g3404431b78d_8_1240"/>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08" name="Google Shape;208;g3404431b78d_8_1240"/>
            <p:cNvGrpSpPr/>
            <p:nvPr/>
          </p:nvGrpSpPr>
          <p:grpSpPr>
            <a:xfrm>
              <a:off x="4827588" y="4099200"/>
              <a:ext cx="231600" cy="1044300"/>
              <a:chOff x="4827588" y="4099200"/>
              <a:chExt cx="231600" cy="1044300"/>
            </a:xfrm>
          </p:grpSpPr>
          <p:sp>
            <p:nvSpPr>
              <p:cNvPr id="209" name="Google Shape;209;g3404431b78d_8_1240"/>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0" name="Google Shape;210;g3404431b78d_8_1240"/>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1" name="Google Shape;211;g3404431b78d_8_1240"/>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2" name="Google Shape;212;g3404431b78d_8_1240"/>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3" name="Google Shape;213;g3404431b78d_8_1240"/>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14" name="Google Shape;214;g3404431b78d_8_1240"/>
            <p:cNvGrpSpPr/>
            <p:nvPr/>
          </p:nvGrpSpPr>
          <p:grpSpPr>
            <a:xfrm>
              <a:off x="5198943" y="4309200"/>
              <a:ext cx="231600" cy="834300"/>
              <a:chOff x="5198943" y="4309200"/>
              <a:chExt cx="231600" cy="834300"/>
            </a:xfrm>
          </p:grpSpPr>
          <p:sp>
            <p:nvSpPr>
              <p:cNvPr id="215" name="Google Shape;215;g3404431b78d_8_1240"/>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6" name="Google Shape;216;g3404431b78d_8_1240"/>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7" name="Google Shape;217;g3404431b78d_8_1240"/>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8" name="Google Shape;218;g3404431b78d_8_1240"/>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19" name="Google Shape;219;g3404431b78d_8_1240"/>
            <p:cNvGrpSpPr/>
            <p:nvPr/>
          </p:nvGrpSpPr>
          <p:grpSpPr>
            <a:xfrm>
              <a:off x="5570297" y="4518900"/>
              <a:ext cx="231600" cy="624600"/>
              <a:chOff x="5570297" y="4518900"/>
              <a:chExt cx="231600" cy="624600"/>
            </a:xfrm>
          </p:grpSpPr>
          <p:sp>
            <p:nvSpPr>
              <p:cNvPr id="220" name="Google Shape;220;g3404431b78d_8_1240"/>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1" name="Google Shape;221;g3404431b78d_8_1240"/>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2" name="Google Shape;222;g3404431b78d_8_1240"/>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23" name="Google Shape;223;g3404431b78d_8_1240"/>
            <p:cNvGrpSpPr/>
            <p:nvPr/>
          </p:nvGrpSpPr>
          <p:grpSpPr>
            <a:xfrm>
              <a:off x="5941652" y="4309200"/>
              <a:ext cx="231600" cy="834300"/>
              <a:chOff x="5941652" y="4309200"/>
              <a:chExt cx="231600" cy="834300"/>
            </a:xfrm>
          </p:grpSpPr>
          <p:sp>
            <p:nvSpPr>
              <p:cNvPr id="224" name="Google Shape;224;g3404431b78d_8_1240"/>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5" name="Google Shape;225;g3404431b78d_8_1240"/>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6" name="Google Shape;226;g3404431b78d_8_1240"/>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7" name="Google Shape;227;g3404431b78d_8_1240"/>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28" name="Google Shape;228;g3404431b78d_8_1240"/>
            <p:cNvGrpSpPr/>
            <p:nvPr/>
          </p:nvGrpSpPr>
          <p:grpSpPr>
            <a:xfrm>
              <a:off x="6313006" y="4099200"/>
              <a:ext cx="231600" cy="1044300"/>
              <a:chOff x="6313006" y="4099200"/>
              <a:chExt cx="231600" cy="1044300"/>
            </a:xfrm>
          </p:grpSpPr>
          <p:sp>
            <p:nvSpPr>
              <p:cNvPr id="229" name="Google Shape;229;g3404431b78d_8_1240"/>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g3404431b78d_8_1240"/>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1" name="Google Shape;231;g3404431b78d_8_1240"/>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2" name="Google Shape;232;g3404431b78d_8_1240"/>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3" name="Google Shape;233;g3404431b78d_8_1240"/>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34" name="Google Shape;234;g3404431b78d_8_1240"/>
            <p:cNvGrpSpPr/>
            <p:nvPr/>
          </p:nvGrpSpPr>
          <p:grpSpPr>
            <a:xfrm>
              <a:off x="6684361" y="4309200"/>
              <a:ext cx="231600" cy="834300"/>
              <a:chOff x="6684361" y="4309200"/>
              <a:chExt cx="231600" cy="834300"/>
            </a:xfrm>
          </p:grpSpPr>
          <p:sp>
            <p:nvSpPr>
              <p:cNvPr id="235" name="Google Shape;235;g3404431b78d_8_1240"/>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g3404431b78d_8_1240"/>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7" name="Google Shape;237;g3404431b78d_8_1240"/>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8" name="Google Shape;238;g3404431b78d_8_1240"/>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39" name="Google Shape;239;g3404431b78d_8_1240"/>
            <p:cNvGrpSpPr/>
            <p:nvPr/>
          </p:nvGrpSpPr>
          <p:grpSpPr>
            <a:xfrm>
              <a:off x="7055715" y="4518900"/>
              <a:ext cx="231600" cy="624600"/>
              <a:chOff x="7055715" y="4518900"/>
              <a:chExt cx="231600" cy="624600"/>
            </a:xfrm>
          </p:grpSpPr>
          <p:sp>
            <p:nvSpPr>
              <p:cNvPr id="240" name="Google Shape;240;g3404431b78d_8_1240"/>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1" name="Google Shape;241;g3404431b78d_8_1240"/>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2" name="Google Shape;242;g3404431b78d_8_1240"/>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43" name="Google Shape;243;g3404431b78d_8_1240"/>
            <p:cNvGrpSpPr/>
            <p:nvPr/>
          </p:nvGrpSpPr>
          <p:grpSpPr>
            <a:xfrm>
              <a:off x="7798424" y="4099200"/>
              <a:ext cx="231600" cy="1044300"/>
              <a:chOff x="7798424" y="4099200"/>
              <a:chExt cx="231600" cy="1044300"/>
            </a:xfrm>
          </p:grpSpPr>
          <p:sp>
            <p:nvSpPr>
              <p:cNvPr id="244" name="Google Shape;244;g3404431b78d_8_1240"/>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5" name="Google Shape;245;g3404431b78d_8_1240"/>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6" name="Google Shape;246;g3404431b78d_8_1240"/>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7" name="Google Shape;247;g3404431b78d_8_1240"/>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8" name="Google Shape;248;g3404431b78d_8_1240"/>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49" name="Google Shape;249;g3404431b78d_8_1240"/>
            <p:cNvGrpSpPr/>
            <p:nvPr/>
          </p:nvGrpSpPr>
          <p:grpSpPr>
            <a:xfrm>
              <a:off x="8169779" y="4309200"/>
              <a:ext cx="231600" cy="834300"/>
              <a:chOff x="8169779" y="4309200"/>
              <a:chExt cx="231600" cy="834300"/>
            </a:xfrm>
          </p:grpSpPr>
          <p:sp>
            <p:nvSpPr>
              <p:cNvPr id="250" name="Google Shape;250;g3404431b78d_8_1240"/>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1" name="Google Shape;251;g3404431b78d_8_1240"/>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2" name="Google Shape;252;g3404431b78d_8_1240"/>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3" name="Google Shape;253;g3404431b78d_8_1240"/>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54" name="Google Shape;254;g3404431b78d_8_1240"/>
            <p:cNvGrpSpPr/>
            <p:nvPr/>
          </p:nvGrpSpPr>
          <p:grpSpPr>
            <a:xfrm>
              <a:off x="7427070" y="4309200"/>
              <a:ext cx="231600" cy="834300"/>
              <a:chOff x="7427070" y="4309200"/>
              <a:chExt cx="231600" cy="834300"/>
            </a:xfrm>
          </p:grpSpPr>
          <p:sp>
            <p:nvSpPr>
              <p:cNvPr id="255" name="Google Shape;255;g3404431b78d_8_1240"/>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6" name="Google Shape;256;g3404431b78d_8_1240"/>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7" name="Google Shape;257;g3404431b78d_8_1240"/>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8" name="Google Shape;258;g3404431b78d_8_1240"/>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59" name="Google Shape;259;g3404431b78d_8_1240"/>
            <p:cNvGrpSpPr/>
            <p:nvPr/>
          </p:nvGrpSpPr>
          <p:grpSpPr>
            <a:xfrm>
              <a:off x="8541133" y="4518900"/>
              <a:ext cx="231600" cy="624600"/>
              <a:chOff x="8541133" y="4518900"/>
              <a:chExt cx="231600" cy="624600"/>
            </a:xfrm>
          </p:grpSpPr>
          <p:sp>
            <p:nvSpPr>
              <p:cNvPr id="260" name="Google Shape;260;g3404431b78d_8_1240"/>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1" name="Google Shape;261;g3404431b78d_8_1240"/>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2" name="Google Shape;262;g3404431b78d_8_1240"/>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63" name="Google Shape;263;g3404431b78d_8_1240"/>
            <p:cNvGrpSpPr/>
            <p:nvPr/>
          </p:nvGrpSpPr>
          <p:grpSpPr>
            <a:xfrm>
              <a:off x="8912488" y="4309200"/>
              <a:ext cx="231600" cy="834300"/>
              <a:chOff x="8912488" y="4309200"/>
              <a:chExt cx="231600" cy="834300"/>
            </a:xfrm>
          </p:grpSpPr>
          <p:sp>
            <p:nvSpPr>
              <p:cNvPr id="264" name="Google Shape;264;g3404431b78d_8_1240"/>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5" name="Google Shape;265;g3404431b78d_8_1240"/>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6" name="Google Shape;266;g3404431b78d_8_1240"/>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7" name="Google Shape;267;g3404431b78d_8_1240"/>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268" name="Google Shape;268;g3404431b78d_8_1240"/>
          <p:cNvSpPr txBox="1"/>
          <p:nvPr>
            <p:ph hasCustomPrompt="1" type="title"/>
          </p:nvPr>
        </p:nvSpPr>
        <p:spPr>
          <a:xfrm>
            <a:off x="1851500" y="1030300"/>
            <a:ext cx="8489100" cy="24843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lt1"/>
              </a:buClr>
              <a:buSzPts val="10700"/>
              <a:buNone/>
              <a:defRPr sz="10700">
                <a:solidFill>
                  <a:schemeClr val="lt1"/>
                </a:solidFill>
              </a:defRPr>
            </a:lvl1pPr>
            <a:lvl2pPr lvl="1" algn="ctr">
              <a:spcBef>
                <a:spcPts val="0"/>
              </a:spcBef>
              <a:spcAft>
                <a:spcPts val="0"/>
              </a:spcAft>
              <a:buClr>
                <a:schemeClr val="lt1"/>
              </a:buClr>
              <a:buSzPts val="10700"/>
              <a:buNone/>
              <a:defRPr sz="10700">
                <a:solidFill>
                  <a:schemeClr val="lt1"/>
                </a:solidFill>
              </a:defRPr>
            </a:lvl2pPr>
            <a:lvl3pPr lvl="2" algn="ctr">
              <a:spcBef>
                <a:spcPts val="0"/>
              </a:spcBef>
              <a:spcAft>
                <a:spcPts val="0"/>
              </a:spcAft>
              <a:buClr>
                <a:schemeClr val="lt1"/>
              </a:buClr>
              <a:buSzPts val="10700"/>
              <a:buNone/>
              <a:defRPr sz="10700">
                <a:solidFill>
                  <a:schemeClr val="lt1"/>
                </a:solidFill>
              </a:defRPr>
            </a:lvl3pPr>
            <a:lvl4pPr lvl="3" algn="ctr">
              <a:spcBef>
                <a:spcPts val="0"/>
              </a:spcBef>
              <a:spcAft>
                <a:spcPts val="0"/>
              </a:spcAft>
              <a:buClr>
                <a:schemeClr val="lt1"/>
              </a:buClr>
              <a:buSzPts val="10700"/>
              <a:buNone/>
              <a:defRPr sz="10700">
                <a:solidFill>
                  <a:schemeClr val="lt1"/>
                </a:solidFill>
              </a:defRPr>
            </a:lvl4pPr>
            <a:lvl5pPr lvl="4" algn="ctr">
              <a:spcBef>
                <a:spcPts val="0"/>
              </a:spcBef>
              <a:spcAft>
                <a:spcPts val="0"/>
              </a:spcAft>
              <a:buClr>
                <a:schemeClr val="lt1"/>
              </a:buClr>
              <a:buSzPts val="10700"/>
              <a:buNone/>
              <a:defRPr sz="10700">
                <a:solidFill>
                  <a:schemeClr val="lt1"/>
                </a:solidFill>
              </a:defRPr>
            </a:lvl5pPr>
            <a:lvl6pPr lvl="5" algn="ctr">
              <a:spcBef>
                <a:spcPts val="0"/>
              </a:spcBef>
              <a:spcAft>
                <a:spcPts val="0"/>
              </a:spcAft>
              <a:buClr>
                <a:schemeClr val="lt1"/>
              </a:buClr>
              <a:buSzPts val="10700"/>
              <a:buNone/>
              <a:defRPr sz="10700">
                <a:solidFill>
                  <a:schemeClr val="lt1"/>
                </a:solidFill>
              </a:defRPr>
            </a:lvl6pPr>
            <a:lvl7pPr lvl="6" algn="ctr">
              <a:spcBef>
                <a:spcPts val="0"/>
              </a:spcBef>
              <a:spcAft>
                <a:spcPts val="0"/>
              </a:spcAft>
              <a:buClr>
                <a:schemeClr val="lt1"/>
              </a:buClr>
              <a:buSzPts val="10700"/>
              <a:buNone/>
              <a:defRPr sz="10700">
                <a:solidFill>
                  <a:schemeClr val="lt1"/>
                </a:solidFill>
              </a:defRPr>
            </a:lvl7pPr>
            <a:lvl8pPr lvl="7" algn="ctr">
              <a:spcBef>
                <a:spcPts val="0"/>
              </a:spcBef>
              <a:spcAft>
                <a:spcPts val="0"/>
              </a:spcAft>
              <a:buClr>
                <a:schemeClr val="lt1"/>
              </a:buClr>
              <a:buSzPts val="10700"/>
              <a:buNone/>
              <a:defRPr sz="10700">
                <a:solidFill>
                  <a:schemeClr val="lt1"/>
                </a:solidFill>
              </a:defRPr>
            </a:lvl8pPr>
            <a:lvl9pPr lvl="8" algn="ctr">
              <a:spcBef>
                <a:spcPts val="0"/>
              </a:spcBef>
              <a:spcAft>
                <a:spcPts val="0"/>
              </a:spcAft>
              <a:buClr>
                <a:schemeClr val="lt1"/>
              </a:buClr>
              <a:buSzPts val="10700"/>
              <a:buNone/>
              <a:defRPr sz="10700">
                <a:solidFill>
                  <a:schemeClr val="lt1"/>
                </a:solidFill>
              </a:defRPr>
            </a:lvl9pPr>
          </a:lstStyle>
          <a:p>
            <a:r>
              <a:t>xx%</a:t>
            </a:r>
          </a:p>
        </p:txBody>
      </p:sp>
      <p:sp>
        <p:nvSpPr>
          <p:cNvPr id="269" name="Google Shape;269;g3404431b78d_8_1240"/>
          <p:cNvSpPr txBox="1"/>
          <p:nvPr>
            <p:ph idx="1" type="body"/>
          </p:nvPr>
        </p:nvSpPr>
        <p:spPr>
          <a:xfrm>
            <a:off x="1851500" y="3616400"/>
            <a:ext cx="8489100" cy="1481700"/>
          </a:xfrm>
          <a:prstGeom prst="rect">
            <a:avLst/>
          </a:prstGeom>
        </p:spPr>
        <p:txBody>
          <a:bodyPr anchorCtr="0" anchor="t" bIns="121900" lIns="121900" spcFirstLastPara="1" rIns="121900" wrap="square" tIns="121900">
            <a:normAutofit/>
          </a:bodyPr>
          <a:lstStyle>
            <a:lvl1pPr indent="-336550" lvl="0" marL="457200" algn="ctr">
              <a:spcBef>
                <a:spcPts val="0"/>
              </a:spcBef>
              <a:spcAft>
                <a:spcPts val="0"/>
              </a:spcAft>
              <a:buClr>
                <a:schemeClr val="lt1"/>
              </a:buClr>
              <a:buSzPts val="1700"/>
              <a:buChar char="●"/>
              <a:defRPr>
                <a:solidFill>
                  <a:schemeClr val="lt1"/>
                </a:solidFill>
              </a:defRPr>
            </a:lvl1pPr>
            <a:lvl2pPr indent="-323850" lvl="1" marL="914400" algn="ctr">
              <a:spcBef>
                <a:spcPts val="0"/>
              </a:spcBef>
              <a:spcAft>
                <a:spcPts val="0"/>
              </a:spcAft>
              <a:buClr>
                <a:schemeClr val="lt1"/>
              </a:buClr>
              <a:buSzPts val="1500"/>
              <a:buChar char="○"/>
              <a:defRPr>
                <a:solidFill>
                  <a:schemeClr val="lt1"/>
                </a:solidFill>
              </a:defRPr>
            </a:lvl2pPr>
            <a:lvl3pPr indent="-323850" lvl="2" marL="1371600" algn="ctr">
              <a:spcBef>
                <a:spcPts val="0"/>
              </a:spcBef>
              <a:spcAft>
                <a:spcPts val="0"/>
              </a:spcAft>
              <a:buClr>
                <a:schemeClr val="lt1"/>
              </a:buClr>
              <a:buSzPts val="1500"/>
              <a:buChar char="■"/>
              <a:defRPr>
                <a:solidFill>
                  <a:schemeClr val="lt1"/>
                </a:solidFill>
              </a:defRPr>
            </a:lvl3pPr>
            <a:lvl4pPr indent="-323850" lvl="3" marL="1828800" algn="ctr">
              <a:spcBef>
                <a:spcPts val="0"/>
              </a:spcBef>
              <a:spcAft>
                <a:spcPts val="0"/>
              </a:spcAft>
              <a:buClr>
                <a:schemeClr val="lt1"/>
              </a:buClr>
              <a:buSzPts val="1500"/>
              <a:buChar char="●"/>
              <a:defRPr>
                <a:solidFill>
                  <a:schemeClr val="lt1"/>
                </a:solidFill>
              </a:defRPr>
            </a:lvl4pPr>
            <a:lvl5pPr indent="-323850" lvl="4" marL="2286000" algn="ctr">
              <a:spcBef>
                <a:spcPts val="0"/>
              </a:spcBef>
              <a:spcAft>
                <a:spcPts val="0"/>
              </a:spcAft>
              <a:buClr>
                <a:schemeClr val="lt1"/>
              </a:buClr>
              <a:buSzPts val="1500"/>
              <a:buChar char="○"/>
              <a:defRPr>
                <a:solidFill>
                  <a:schemeClr val="lt1"/>
                </a:solidFill>
              </a:defRPr>
            </a:lvl5pPr>
            <a:lvl6pPr indent="-323850" lvl="5" marL="2743200" algn="ctr">
              <a:spcBef>
                <a:spcPts val="0"/>
              </a:spcBef>
              <a:spcAft>
                <a:spcPts val="0"/>
              </a:spcAft>
              <a:buClr>
                <a:schemeClr val="lt1"/>
              </a:buClr>
              <a:buSzPts val="1500"/>
              <a:buChar char="■"/>
              <a:defRPr>
                <a:solidFill>
                  <a:schemeClr val="lt1"/>
                </a:solidFill>
              </a:defRPr>
            </a:lvl6pPr>
            <a:lvl7pPr indent="-323850" lvl="6" marL="3200400" algn="ctr">
              <a:spcBef>
                <a:spcPts val="0"/>
              </a:spcBef>
              <a:spcAft>
                <a:spcPts val="0"/>
              </a:spcAft>
              <a:buClr>
                <a:schemeClr val="lt1"/>
              </a:buClr>
              <a:buSzPts val="1500"/>
              <a:buChar char="●"/>
              <a:defRPr>
                <a:solidFill>
                  <a:schemeClr val="lt1"/>
                </a:solidFill>
              </a:defRPr>
            </a:lvl7pPr>
            <a:lvl8pPr indent="-323850" lvl="7" marL="3657600" algn="ctr">
              <a:spcBef>
                <a:spcPts val="0"/>
              </a:spcBef>
              <a:spcAft>
                <a:spcPts val="0"/>
              </a:spcAft>
              <a:buClr>
                <a:schemeClr val="lt1"/>
              </a:buClr>
              <a:buSzPts val="1500"/>
              <a:buChar char="○"/>
              <a:defRPr>
                <a:solidFill>
                  <a:schemeClr val="lt1"/>
                </a:solidFill>
              </a:defRPr>
            </a:lvl8pPr>
            <a:lvl9pPr indent="-323850" lvl="8" marL="4114800" algn="ctr">
              <a:spcBef>
                <a:spcPts val="0"/>
              </a:spcBef>
              <a:spcAft>
                <a:spcPts val="0"/>
              </a:spcAft>
              <a:buClr>
                <a:schemeClr val="lt1"/>
              </a:buClr>
              <a:buSzPts val="1500"/>
              <a:buChar char="■"/>
              <a:defRPr>
                <a:solidFill>
                  <a:schemeClr val="lt1"/>
                </a:solidFill>
              </a:defRPr>
            </a:lvl9pPr>
          </a:lstStyle>
          <a:p/>
        </p:txBody>
      </p:sp>
      <p:sp>
        <p:nvSpPr>
          <p:cNvPr id="270" name="Google Shape;270;g3404431b78d_8_1240"/>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g3404431b78d_8_1370"/>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3" name="Shape 273"/>
        <p:cNvGrpSpPr/>
        <p:nvPr/>
      </p:nvGrpSpPr>
      <p:grpSpPr>
        <a:xfrm>
          <a:off x="0" y="0"/>
          <a:ext cx="0" cy="0"/>
          <a:chOff x="0" y="0"/>
          <a:chExt cx="0" cy="0"/>
        </a:xfrm>
      </p:grpSpPr>
      <p:sp>
        <p:nvSpPr>
          <p:cNvPr id="274" name="Google Shape;274;g3404431b78d_8_137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5" name="Google Shape;275;g3404431b78d_8_137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1600"/>
              </a:spcAft>
              <a:buClr>
                <a:schemeClr val="dk1"/>
              </a:buClr>
              <a:buSzPts val="1800"/>
              <a:buChar char="■"/>
              <a:defRPr/>
            </a:lvl9pPr>
          </a:lstStyle>
          <a:p/>
        </p:txBody>
      </p:sp>
      <p:sp>
        <p:nvSpPr>
          <p:cNvPr id="276" name="Google Shape;276;g3404431b78d_8_137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g3404431b78d_8_137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g3404431b78d_8_137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g3404431b78d_8_110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rgbClr val="1F1F1F"/>
              </a:buClr>
              <a:buSzPts val="3700"/>
              <a:buFont typeface="Calibri"/>
              <a:buNone/>
              <a:defRPr b="1" sz="3700">
                <a:solidFill>
                  <a:srgbClr val="1F1F1F"/>
                </a:solidFill>
                <a:latin typeface="Calibri"/>
                <a:ea typeface="Calibri"/>
                <a:cs typeface="Calibri"/>
                <a:sym typeface="Calibri"/>
              </a:defRPr>
            </a:lvl1pPr>
            <a:lvl2pPr lvl="1">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2pPr>
            <a:lvl3pPr lvl="2">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3pPr>
            <a:lvl4pPr lvl="3">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4pPr>
            <a:lvl5pPr lvl="4">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5pPr>
            <a:lvl6pPr lvl="5">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6pPr>
            <a:lvl7pPr lvl="6">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7pPr>
            <a:lvl8pPr lvl="7">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8pPr>
            <a:lvl9pPr lvl="8">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9pPr>
          </a:lstStyle>
          <a:p/>
        </p:txBody>
      </p:sp>
      <p:sp>
        <p:nvSpPr>
          <p:cNvPr id="7" name="Google Shape;7;g3404431b78d_8_110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rgbClr val="1F1F1F"/>
              </a:buClr>
              <a:buSzPts val="1700"/>
              <a:buFont typeface="Calibri"/>
              <a:buChar char="●"/>
              <a:defRPr sz="1700">
                <a:solidFill>
                  <a:srgbClr val="1F1F1F"/>
                </a:solidFill>
                <a:latin typeface="Calibri"/>
                <a:ea typeface="Calibri"/>
                <a:cs typeface="Calibri"/>
                <a:sym typeface="Calibri"/>
              </a:defRPr>
            </a:lvl1pPr>
            <a:lvl2pPr indent="-323850" lvl="1" marL="914400">
              <a:lnSpc>
                <a:spcPct val="115000"/>
              </a:lnSpc>
              <a:spcBef>
                <a:spcPts val="0"/>
              </a:spcBef>
              <a:spcAft>
                <a:spcPts val="0"/>
              </a:spcAft>
              <a:buClr>
                <a:srgbClr val="1F1F1F"/>
              </a:buClr>
              <a:buSzPts val="1500"/>
              <a:buFont typeface="Calibri"/>
              <a:buChar char="○"/>
              <a:defRPr sz="1500">
                <a:solidFill>
                  <a:srgbClr val="1F1F1F"/>
                </a:solidFill>
                <a:latin typeface="Calibri"/>
                <a:ea typeface="Calibri"/>
                <a:cs typeface="Calibri"/>
                <a:sym typeface="Calibri"/>
              </a:defRPr>
            </a:lvl2pPr>
            <a:lvl3pPr indent="-323850" lvl="2" marL="1371600">
              <a:lnSpc>
                <a:spcPct val="115000"/>
              </a:lnSpc>
              <a:spcBef>
                <a:spcPts val="0"/>
              </a:spcBef>
              <a:spcAft>
                <a:spcPts val="0"/>
              </a:spcAft>
              <a:buClr>
                <a:srgbClr val="1F1F1F"/>
              </a:buClr>
              <a:buSzPts val="1500"/>
              <a:buFont typeface="Calibri"/>
              <a:buChar char="■"/>
              <a:defRPr sz="1500">
                <a:solidFill>
                  <a:srgbClr val="1F1F1F"/>
                </a:solidFill>
                <a:latin typeface="Calibri"/>
                <a:ea typeface="Calibri"/>
                <a:cs typeface="Calibri"/>
                <a:sym typeface="Calibri"/>
              </a:defRPr>
            </a:lvl3pPr>
            <a:lvl4pPr indent="-323850" lvl="3" marL="1828800">
              <a:lnSpc>
                <a:spcPct val="115000"/>
              </a:lnSpc>
              <a:spcBef>
                <a:spcPts val="0"/>
              </a:spcBef>
              <a:spcAft>
                <a:spcPts val="0"/>
              </a:spcAft>
              <a:buClr>
                <a:srgbClr val="1F1F1F"/>
              </a:buClr>
              <a:buSzPts val="1500"/>
              <a:buFont typeface="Calibri"/>
              <a:buChar char="●"/>
              <a:defRPr sz="1500">
                <a:solidFill>
                  <a:srgbClr val="1F1F1F"/>
                </a:solidFill>
                <a:latin typeface="Calibri"/>
                <a:ea typeface="Calibri"/>
                <a:cs typeface="Calibri"/>
                <a:sym typeface="Calibri"/>
              </a:defRPr>
            </a:lvl4pPr>
            <a:lvl5pPr indent="-323850" lvl="4" marL="2286000">
              <a:lnSpc>
                <a:spcPct val="115000"/>
              </a:lnSpc>
              <a:spcBef>
                <a:spcPts val="0"/>
              </a:spcBef>
              <a:spcAft>
                <a:spcPts val="0"/>
              </a:spcAft>
              <a:buClr>
                <a:srgbClr val="1F1F1F"/>
              </a:buClr>
              <a:buSzPts val="1500"/>
              <a:buFont typeface="Calibri"/>
              <a:buChar char="○"/>
              <a:defRPr sz="1500">
                <a:solidFill>
                  <a:srgbClr val="1F1F1F"/>
                </a:solidFill>
                <a:latin typeface="Calibri"/>
                <a:ea typeface="Calibri"/>
                <a:cs typeface="Calibri"/>
                <a:sym typeface="Calibri"/>
              </a:defRPr>
            </a:lvl5pPr>
            <a:lvl6pPr indent="-323850" lvl="5" marL="2743200">
              <a:lnSpc>
                <a:spcPct val="115000"/>
              </a:lnSpc>
              <a:spcBef>
                <a:spcPts val="0"/>
              </a:spcBef>
              <a:spcAft>
                <a:spcPts val="0"/>
              </a:spcAft>
              <a:buClr>
                <a:srgbClr val="1F1F1F"/>
              </a:buClr>
              <a:buSzPts val="1500"/>
              <a:buFont typeface="Calibri"/>
              <a:buChar char="■"/>
              <a:defRPr sz="1500">
                <a:solidFill>
                  <a:srgbClr val="1F1F1F"/>
                </a:solidFill>
                <a:latin typeface="Calibri"/>
                <a:ea typeface="Calibri"/>
                <a:cs typeface="Calibri"/>
                <a:sym typeface="Calibri"/>
              </a:defRPr>
            </a:lvl6pPr>
            <a:lvl7pPr indent="-323850" lvl="6" marL="3200400">
              <a:lnSpc>
                <a:spcPct val="115000"/>
              </a:lnSpc>
              <a:spcBef>
                <a:spcPts val="0"/>
              </a:spcBef>
              <a:spcAft>
                <a:spcPts val="0"/>
              </a:spcAft>
              <a:buClr>
                <a:srgbClr val="1F1F1F"/>
              </a:buClr>
              <a:buSzPts val="1500"/>
              <a:buFont typeface="Calibri"/>
              <a:buChar char="●"/>
              <a:defRPr sz="1500">
                <a:solidFill>
                  <a:srgbClr val="1F1F1F"/>
                </a:solidFill>
                <a:latin typeface="Calibri"/>
                <a:ea typeface="Calibri"/>
                <a:cs typeface="Calibri"/>
                <a:sym typeface="Calibri"/>
              </a:defRPr>
            </a:lvl7pPr>
            <a:lvl8pPr indent="-323850" lvl="7" marL="3657600">
              <a:lnSpc>
                <a:spcPct val="115000"/>
              </a:lnSpc>
              <a:spcBef>
                <a:spcPts val="0"/>
              </a:spcBef>
              <a:spcAft>
                <a:spcPts val="0"/>
              </a:spcAft>
              <a:buClr>
                <a:srgbClr val="1F1F1F"/>
              </a:buClr>
              <a:buSzPts val="1500"/>
              <a:buFont typeface="Calibri"/>
              <a:buChar char="○"/>
              <a:defRPr sz="1500">
                <a:solidFill>
                  <a:srgbClr val="1F1F1F"/>
                </a:solidFill>
                <a:latin typeface="Calibri"/>
                <a:ea typeface="Calibri"/>
                <a:cs typeface="Calibri"/>
                <a:sym typeface="Calibri"/>
              </a:defRPr>
            </a:lvl8pPr>
            <a:lvl9pPr indent="-323850" lvl="8" marL="4114800">
              <a:lnSpc>
                <a:spcPct val="115000"/>
              </a:lnSpc>
              <a:spcBef>
                <a:spcPts val="0"/>
              </a:spcBef>
              <a:spcAft>
                <a:spcPts val="0"/>
              </a:spcAft>
              <a:buClr>
                <a:srgbClr val="1F1F1F"/>
              </a:buClr>
              <a:buSzPts val="1500"/>
              <a:buFont typeface="Calibri"/>
              <a:buChar char="■"/>
              <a:defRPr sz="1500">
                <a:solidFill>
                  <a:srgbClr val="1F1F1F"/>
                </a:solidFill>
                <a:latin typeface="Calibri"/>
                <a:ea typeface="Calibri"/>
                <a:cs typeface="Calibri"/>
                <a:sym typeface="Calibri"/>
              </a:defRPr>
            </a:lvl9pPr>
          </a:lstStyle>
          <a:p/>
        </p:txBody>
      </p:sp>
      <p:sp>
        <p:nvSpPr>
          <p:cNvPr id="8" name="Google Shape;8;g3404431b78d_8_1104"/>
          <p:cNvSpPr txBox="1"/>
          <p:nvPr>
            <p:ph idx="12" type="sldNum"/>
          </p:nvPr>
        </p:nvSpPr>
        <p:spPr>
          <a:xfrm>
            <a:off x="11268061" y="6315968"/>
            <a:ext cx="731700" cy="524700"/>
          </a:xfrm>
          <a:prstGeom prst="rect">
            <a:avLst/>
          </a:prstGeom>
          <a:noFill/>
          <a:ln>
            <a:noFill/>
          </a:ln>
        </p:spPr>
        <p:txBody>
          <a:bodyPr anchorCtr="0" anchor="ctr" bIns="121900" lIns="121900" spcFirstLastPara="1" rIns="121900" wrap="square" tIns="121900">
            <a:normAutofit/>
          </a:bodyPr>
          <a:lstStyle>
            <a:lvl1pPr lvl="0" algn="r">
              <a:buNone/>
              <a:defRPr sz="1200">
                <a:solidFill>
                  <a:schemeClr val="dk2"/>
                </a:solidFill>
                <a:latin typeface="Nunito"/>
                <a:ea typeface="Nunito"/>
                <a:cs typeface="Nunito"/>
                <a:sym typeface="Nunito"/>
              </a:defRPr>
            </a:lvl1pPr>
            <a:lvl2pPr lvl="1" algn="r">
              <a:buNone/>
              <a:defRPr sz="1200">
                <a:solidFill>
                  <a:schemeClr val="dk2"/>
                </a:solidFill>
                <a:latin typeface="Nunito"/>
                <a:ea typeface="Nunito"/>
                <a:cs typeface="Nunito"/>
                <a:sym typeface="Nunito"/>
              </a:defRPr>
            </a:lvl2pPr>
            <a:lvl3pPr lvl="2" algn="r">
              <a:buNone/>
              <a:defRPr sz="1200">
                <a:solidFill>
                  <a:schemeClr val="dk2"/>
                </a:solidFill>
                <a:latin typeface="Nunito"/>
                <a:ea typeface="Nunito"/>
                <a:cs typeface="Nunito"/>
                <a:sym typeface="Nunito"/>
              </a:defRPr>
            </a:lvl3pPr>
            <a:lvl4pPr lvl="3" algn="r">
              <a:buNone/>
              <a:defRPr sz="1200">
                <a:solidFill>
                  <a:schemeClr val="dk2"/>
                </a:solidFill>
                <a:latin typeface="Nunito"/>
                <a:ea typeface="Nunito"/>
                <a:cs typeface="Nunito"/>
                <a:sym typeface="Nunito"/>
              </a:defRPr>
            </a:lvl4pPr>
            <a:lvl5pPr lvl="4" algn="r">
              <a:buNone/>
              <a:defRPr sz="1200">
                <a:solidFill>
                  <a:schemeClr val="dk2"/>
                </a:solidFill>
                <a:latin typeface="Nunito"/>
                <a:ea typeface="Nunito"/>
                <a:cs typeface="Nunito"/>
                <a:sym typeface="Nunito"/>
              </a:defRPr>
            </a:lvl5pPr>
            <a:lvl6pPr lvl="5" algn="r">
              <a:buNone/>
              <a:defRPr sz="1200">
                <a:solidFill>
                  <a:schemeClr val="dk2"/>
                </a:solidFill>
                <a:latin typeface="Nunito"/>
                <a:ea typeface="Nunito"/>
                <a:cs typeface="Nunito"/>
                <a:sym typeface="Nunito"/>
              </a:defRPr>
            </a:lvl6pPr>
            <a:lvl7pPr lvl="6" algn="r">
              <a:buNone/>
              <a:defRPr sz="1200">
                <a:solidFill>
                  <a:schemeClr val="dk2"/>
                </a:solidFill>
                <a:latin typeface="Nunito"/>
                <a:ea typeface="Nunito"/>
                <a:cs typeface="Nunito"/>
                <a:sym typeface="Nunito"/>
              </a:defRPr>
            </a:lvl7pPr>
            <a:lvl8pPr lvl="7" algn="r">
              <a:buNone/>
              <a:defRPr sz="1200">
                <a:solidFill>
                  <a:schemeClr val="dk2"/>
                </a:solidFill>
                <a:latin typeface="Nunito"/>
                <a:ea typeface="Nunito"/>
                <a:cs typeface="Nunito"/>
                <a:sym typeface="Nunito"/>
              </a:defRPr>
            </a:lvl8pPr>
            <a:lvl9pPr lvl="8" algn="r">
              <a:buNone/>
              <a:defRPr sz="12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2" name="Shape 282"/>
        <p:cNvGrpSpPr/>
        <p:nvPr/>
      </p:nvGrpSpPr>
      <p:grpSpPr>
        <a:xfrm>
          <a:off x="0" y="0"/>
          <a:ext cx="0" cy="0"/>
          <a:chOff x="0" y="0"/>
          <a:chExt cx="0" cy="0"/>
        </a:xfrm>
      </p:grpSpPr>
      <p:sp>
        <p:nvSpPr>
          <p:cNvPr id="283" name="Google Shape;283;p1"/>
          <p:cNvSpPr txBox="1"/>
          <p:nvPr>
            <p:ph type="ctrTitle"/>
          </p:nvPr>
        </p:nvSpPr>
        <p:spPr>
          <a:xfrm>
            <a:off x="-165975" y="782875"/>
            <a:ext cx="7557300" cy="21639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5400"/>
              <a:buFont typeface="Calibri"/>
              <a:buNone/>
            </a:pPr>
            <a:br>
              <a:rPr lang="en-US" sz="6020"/>
            </a:br>
            <a:br>
              <a:rPr lang="en-US" sz="6020"/>
            </a:br>
            <a:br>
              <a:rPr lang="en-US" sz="6020"/>
            </a:br>
            <a:br>
              <a:rPr lang="en-US" sz="6020"/>
            </a:br>
            <a:br>
              <a:rPr lang="en-US" sz="6020"/>
            </a:br>
            <a:br>
              <a:rPr lang="en-US" sz="6020"/>
            </a:br>
            <a:br>
              <a:rPr lang="en-US" sz="6020"/>
            </a:br>
            <a:br>
              <a:rPr lang="en-US" sz="6020"/>
            </a:br>
            <a:r>
              <a:rPr lang="en-US" sz="6020"/>
              <a:t>Credit Risk </a:t>
            </a:r>
            <a:r>
              <a:rPr lang="en-US" sz="6020"/>
              <a:t>Modeling</a:t>
            </a:r>
            <a:br>
              <a:rPr lang="en-US" sz="6020"/>
            </a:br>
            <a:endParaRPr sz="6020">
              <a:solidFill>
                <a:srgbClr val="2F5496"/>
              </a:solidFill>
            </a:endParaRPr>
          </a:p>
        </p:txBody>
      </p:sp>
      <p:sp>
        <p:nvSpPr>
          <p:cNvPr id="284" name="Google Shape;284;p1"/>
          <p:cNvSpPr txBox="1"/>
          <p:nvPr/>
        </p:nvSpPr>
        <p:spPr>
          <a:xfrm>
            <a:off x="224697" y="5117100"/>
            <a:ext cx="4884600" cy="115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300" u="none" cap="none" strike="noStrike">
                <a:solidFill>
                  <a:schemeClr val="lt1"/>
                </a:solidFill>
                <a:latin typeface="Calibri"/>
                <a:ea typeface="Calibri"/>
                <a:cs typeface="Calibri"/>
                <a:sym typeface="Calibri"/>
              </a:rPr>
              <a:t>Krishna Panchal     			KNP230005</a:t>
            </a:r>
            <a:endParaRPr sz="2300">
              <a:solidFill>
                <a:schemeClr val="lt1"/>
              </a:solidFill>
              <a:latin typeface="Calibri"/>
              <a:ea typeface="Calibri"/>
              <a:cs typeface="Calibri"/>
              <a:sym typeface="Calibri"/>
            </a:endParaRPr>
          </a:p>
          <a:p>
            <a:pPr indent="0" lvl="0" marL="0" marR="0" rtl="0" algn="l">
              <a:spcBef>
                <a:spcPts val="0"/>
              </a:spcBef>
              <a:spcAft>
                <a:spcPts val="0"/>
              </a:spcAft>
              <a:buNone/>
            </a:pPr>
            <a:r>
              <a:rPr i="0" lang="en-US" sz="2300" u="none" cap="none" strike="noStrike">
                <a:solidFill>
                  <a:schemeClr val="lt1"/>
                </a:solidFill>
                <a:latin typeface="Calibri"/>
                <a:ea typeface="Calibri"/>
                <a:cs typeface="Calibri"/>
                <a:sym typeface="Calibri"/>
              </a:rPr>
              <a:t>Sai Hemalatha Ramidi         </a:t>
            </a:r>
            <a:r>
              <a:rPr lang="en-US" sz="2300">
                <a:solidFill>
                  <a:schemeClr val="lt1"/>
                </a:solidFill>
                <a:latin typeface="Calibri"/>
                <a:ea typeface="Calibri"/>
                <a:cs typeface="Calibri"/>
                <a:sym typeface="Calibri"/>
              </a:rPr>
              <a:t>SXR240040</a:t>
            </a:r>
            <a:endParaRPr sz="2300">
              <a:solidFill>
                <a:schemeClr val="lt1"/>
              </a:solidFill>
              <a:latin typeface="Calibri"/>
              <a:ea typeface="Calibri"/>
              <a:cs typeface="Calibri"/>
              <a:sym typeface="Calibri"/>
            </a:endParaRPr>
          </a:p>
          <a:p>
            <a:pPr indent="0" lvl="0" marL="0" marR="0" rtl="0" algn="l">
              <a:spcBef>
                <a:spcPts val="0"/>
              </a:spcBef>
              <a:spcAft>
                <a:spcPts val="0"/>
              </a:spcAft>
              <a:buNone/>
            </a:pPr>
            <a:r>
              <a:rPr i="0" lang="en-US" sz="2300" u="none" cap="none" strike="noStrike">
                <a:solidFill>
                  <a:schemeClr val="lt1"/>
                </a:solidFill>
                <a:latin typeface="Calibri"/>
                <a:ea typeface="Calibri"/>
                <a:cs typeface="Calibri"/>
                <a:sym typeface="Calibri"/>
              </a:rPr>
              <a:t>Thanh Luu       				TXL240006</a:t>
            </a:r>
            <a:endParaRPr sz="1900">
              <a:solidFill>
                <a:schemeClr val="lt1"/>
              </a:solidFill>
              <a:latin typeface="Calibri"/>
              <a:ea typeface="Calibri"/>
              <a:cs typeface="Calibri"/>
              <a:sym typeface="Calibri"/>
            </a:endParaRPr>
          </a:p>
        </p:txBody>
      </p:sp>
      <p:sp>
        <p:nvSpPr>
          <p:cNvPr id="285" name="Google Shape;285;p1"/>
          <p:cNvSpPr txBox="1"/>
          <p:nvPr/>
        </p:nvSpPr>
        <p:spPr>
          <a:xfrm>
            <a:off x="235900" y="4563650"/>
            <a:ext cx="3021900" cy="6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chemeClr val="lt1"/>
                </a:solidFill>
                <a:latin typeface="Calibri"/>
                <a:ea typeface="Calibri"/>
                <a:cs typeface="Calibri"/>
                <a:sym typeface="Calibri"/>
              </a:rPr>
              <a:t>GROUP 11</a:t>
            </a:r>
            <a:endParaRPr b="1" sz="25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Executive Summary</a:t>
            </a:r>
            <a:endParaRPr/>
          </a:p>
        </p:txBody>
      </p:sp>
      <p:cxnSp>
        <p:nvCxnSpPr>
          <p:cNvPr id="291" name="Google Shape;291;p2"/>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graphicFrame>
        <p:nvGraphicFramePr>
          <p:cNvPr id="292" name="Google Shape;292;p2"/>
          <p:cNvGraphicFramePr/>
          <p:nvPr/>
        </p:nvGraphicFramePr>
        <p:xfrm>
          <a:off x="468300" y="4343825"/>
          <a:ext cx="3000000" cy="3000000"/>
        </p:xfrm>
        <a:graphic>
          <a:graphicData uri="http://schemas.openxmlformats.org/drawingml/2006/table">
            <a:tbl>
              <a:tblPr>
                <a:noFill/>
                <a:tableStyleId>{9CE71C27-0CDF-4641-BA4E-4B8CD2B942D0}</a:tableStyleId>
              </a:tblPr>
              <a:tblGrid>
                <a:gridCol w="1084525"/>
                <a:gridCol w="979225"/>
                <a:gridCol w="1031875"/>
                <a:gridCol w="1031875"/>
                <a:gridCol w="1031875"/>
                <a:gridCol w="1031875"/>
                <a:gridCol w="1031875"/>
                <a:gridCol w="1031875"/>
                <a:gridCol w="1031875"/>
                <a:gridCol w="1031875"/>
                <a:gridCol w="1031875"/>
              </a:tblGrid>
              <a:tr h="381000">
                <a:tc rowSpan="2">
                  <a:txBody>
                    <a:bodyPr/>
                    <a:lstStyle/>
                    <a:p>
                      <a:pPr indent="0" lvl="0" marL="0" rtl="0" algn="l">
                        <a:spcBef>
                          <a:spcPts val="0"/>
                        </a:spcBef>
                        <a:spcAft>
                          <a:spcPts val="0"/>
                        </a:spcAft>
                        <a:buNone/>
                      </a:pPr>
                      <a:r>
                        <a:t/>
                      </a:r>
                      <a:endParaRPr sz="1300"/>
                    </a:p>
                  </a:txBody>
                  <a:tcPr marT="91425" marB="91425" marR="91425" marL="91425"/>
                </a:tc>
                <a:tc rowSpan="2">
                  <a:txBody>
                    <a:bodyPr/>
                    <a:lstStyle/>
                    <a:p>
                      <a:pPr indent="0" lvl="0" marL="0" rtl="0" algn="l">
                        <a:spcBef>
                          <a:spcPts val="0"/>
                        </a:spcBef>
                        <a:spcAft>
                          <a:spcPts val="0"/>
                        </a:spcAft>
                        <a:buNone/>
                      </a:pPr>
                      <a:r>
                        <a:rPr lang="en-US" sz="1300"/>
                        <a:t>Threshold</a:t>
                      </a:r>
                      <a:endParaRPr sz="1300"/>
                    </a:p>
                  </a:txBody>
                  <a:tcPr marT="91425" marB="91425" marR="91425" marL="91425" anchor="ctr"/>
                </a:tc>
                <a:tc gridSpan="3">
                  <a:txBody>
                    <a:bodyPr/>
                    <a:lstStyle/>
                    <a:p>
                      <a:pPr indent="0" lvl="0" marL="0" rtl="0" algn="ctr">
                        <a:spcBef>
                          <a:spcPts val="0"/>
                        </a:spcBef>
                        <a:spcAft>
                          <a:spcPts val="0"/>
                        </a:spcAft>
                        <a:buNone/>
                      </a:pPr>
                      <a:r>
                        <a:rPr lang="en-US" sz="1300"/>
                        <a:t>Train</a:t>
                      </a:r>
                      <a:endParaRPr sz="1300"/>
                    </a:p>
                  </a:txBody>
                  <a:tcPr marT="91425" marB="91425" marR="91425" marL="91425"/>
                </a:tc>
                <a:tc hMerge="1"/>
                <a:tc hMerge="1"/>
                <a:tc gridSpan="3">
                  <a:txBody>
                    <a:bodyPr/>
                    <a:lstStyle/>
                    <a:p>
                      <a:pPr indent="0" lvl="0" marL="0" rtl="0" algn="ctr">
                        <a:spcBef>
                          <a:spcPts val="0"/>
                        </a:spcBef>
                        <a:spcAft>
                          <a:spcPts val="0"/>
                        </a:spcAft>
                        <a:buNone/>
                      </a:pPr>
                      <a:r>
                        <a:rPr lang="en-US" sz="1300"/>
                        <a:t>Test 1</a:t>
                      </a:r>
                      <a:endParaRPr sz="1300"/>
                    </a:p>
                  </a:txBody>
                  <a:tcPr marT="91425" marB="91425" marR="91425" marL="91425">
                    <a:lnB cap="flat" cmpd="sng" w="9525">
                      <a:solidFill>
                        <a:srgbClr val="9E9E9E"/>
                      </a:solidFill>
                      <a:prstDash val="solid"/>
                      <a:round/>
                      <a:headEnd len="sm" w="sm" type="none"/>
                      <a:tailEnd len="sm" w="sm" type="none"/>
                    </a:lnB>
                  </a:tcPr>
                </a:tc>
                <a:tc hMerge="1"/>
                <a:tc hMerge="1"/>
                <a:tc gridSpan="3">
                  <a:txBody>
                    <a:bodyPr/>
                    <a:lstStyle/>
                    <a:p>
                      <a:pPr indent="0" lvl="0" marL="0" rtl="0" algn="ctr">
                        <a:spcBef>
                          <a:spcPts val="0"/>
                        </a:spcBef>
                        <a:spcAft>
                          <a:spcPts val="0"/>
                        </a:spcAft>
                        <a:buNone/>
                      </a:pPr>
                      <a:r>
                        <a:rPr lang="en-US" sz="1300"/>
                        <a:t>Test 2</a:t>
                      </a:r>
                      <a:endParaRPr sz="1300"/>
                    </a:p>
                  </a:txBody>
                  <a:tcPr marT="91425" marB="91425" marR="91425" marL="91425">
                    <a:lnB cap="flat" cmpd="sng" w="9525">
                      <a:solidFill>
                        <a:srgbClr val="9E9E9E"/>
                      </a:solidFill>
                      <a:prstDash val="solid"/>
                      <a:round/>
                      <a:headEnd len="sm" w="sm" type="none"/>
                      <a:tailEnd len="sm" w="sm" type="none"/>
                    </a:lnB>
                  </a:tcPr>
                </a:tc>
                <a:tc hMerge="1"/>
                <a:tc hMerge="1"/>
              </a:tr>
              <a:tr h="381000">
                <a:tc vMerge="1"/>
                <a:tc vMerge="1"/>
                <a:tc>
                  <a:txBody>
                    <a:bodyPr/>
                    <a:lstStyle/>
                    <a:p>
                      <a:pPr indent="0" lvl="0" marL="0" rtl="0" algn="ctr">
                        <a:spcBef>
                          <a:spcPts val="0"/>
                        </a:spcBef>
                        <a:spcAft>
                          <a:spcPts val="0"/>
                        </a:spcAft>
                        <a:buNone/>
                      </a:pPr>
                      <a:r>
                        <a:rPr lang="en-US" sz="1200"/>
                        <a:t>#Total</a:t>
                      </a:r>
                      <a:endParaRPr sz="1200"/>
                    </a:p>
                  </a:txBody>
                  <a:tcPr marT="91425" marB="91425" marR="91425" marL="91425"/>
                </a:tc>
                <a:tc>
                  <a:txBody>
                    <a:bodyPr/>
                    <a:lstStyle/>
                    <a:p>
                      <a:pPr indent="0" lvl="0" marL="0" rtl="0" algn="ctr">
                        <a:spcBef>
                          <a:spcPts val="0"/>
                        </a:spcBef>
                        <a:spcAft>
                          <a:spcPts val="0"/>
                        </a:spcAft>
                        <a:buNone/>
                      </a:pPr>
                      <a:r>
                        <a:rPr lang="en-US" sz="1200"/>
                        <a:t>Default Rate</a:t>
                      </a:r>
                      <a:endParaRPr sz="1200"/>
                    </a:p>
                  </a:txBody>
                  <a:tcPr marT="91425" marB="91425" marR="91425" marL="91425"/>
                </a:tc>
                <a:tc>
                  <a:txBody>
                    <a:bodyPr/>
                    <a:lstStyle/>
                    <a:p>
                      <a:pPr indent="0" lvl="0" marL="0" rtl="0" algn="ctr">
                        <a:spcBef>
                          <a:spcPts val="0"/>
                        </a:spcBef>
                        <a:spcAft>
                          <a:spcPts val="0"/>
                        </a:spcAft>
                        <a:buNone/>
                      </a:pPr>
                      <a:r>
                        <a:rPr lang="en-US" sz="1200"/>
                        <a:t>Revenue</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1200"/>
                        <a:t>#Total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200"/>
                        <a:t>Default Rate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200"/>
                        <a:t>Revenue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200"/>
                        <a:t>#Total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200"/>
                        <a:t>Default Rate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200"/>
                        <a:t>Revenue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100"/>
                        <a:t>Conservative Strategy</a:t>
                      </a:r>
                      <a:endParaRPr sz="1100"/>
                    </a:p>
                  </a:txBody>
                  <a:tcPr marT="91425" marB="91425" marR="91425" marL="91425"/>
                </a:tc>
                <a:tc>
                  <a:txBody>
                    <a:bodyPr/>
                    <a:lstStyle/>
                    <a:p>
                      <a:pPr indent="0" lvl="0" marL="0" rtl="0" algn="l">
                        <a:spcBef>
                          <a:spcPts val="0"/>
                        </a:spcBef>
                        <a:spcAft>
                          <a:spcPts val="0"/>
                        </a:spcAft>
                        <a:buNone/>
                      </a:pPr>
                      <a:r>
                        <a:rPr lang="en-US" sz="1100"/>
                        <a:t>0.1</a:t>
                      </a:r>
                      <a:endParaRPr sz="1100"/>
                    </a:p>
                  </a:txBody>
                  <a:tcPr marT="91425" marB="91425" marR="91425" marL="91425"/>
                </a:tc>
                <a:tc>
                  <a:txBody>
                    <a:bodyPr/>
                    <a:lstStyle/>
                    <a:p>
                      <a:pPr indent="0" lvl="0" marL="0" rtl="0" algn="l">
                        <a:spcBef>
                          <a:spcPts val="0"/>
                        </a:spcBef>
                        <a:spcAft>
                          <a:spcPts val="0"/>
                        </a:spcAft>
                        <a:buNone/>
                      </a:pPr>
                      <a:r>
                        <a:rPr lang="en-US" sz="1300"/>
                        <a:t>64248</a:t>
                      </a:r>
                      <a:endParaRPr sz="1300"/>
                    </a:p>
                  </a:txBody>
                  <a:tcPr marT="91425" marB="91425" marR="91425" marL="91425"/>
                </a:tc>
                <a:tc>
                  <a:txBody>
                    <a:bodyPr/>
                    <a:lstStyle/>
                    <a:p>
                      <a:pPr indent="0" lvl="0" marL="0" rtl="0" algn="l">
                        <a:spcBef>
                          <a:spcPts val="0"/>
                        </a:spcBef>
                        <a:spcAft>
                          <a:spcPts val="0"/>
                        </a:spcAft>
                        <a:buNone/>
                      </a:pPr>
                      <a:r>
                        <a:rPr lang="en-US" sz="1300"/>
                        <a:t>0.012922</a:t>
                      </a:r>
                      <a:endParaRPr sz="1300"/>
                    </a:p>
                  </a:txBody>
                  <a:tcPr marT="91425" marB="91425" marR="91425" marL="91425"/>
                </a:tc>
                <a:tc>
                  <a:txBody>
                    <a:bodyPr/>
                    <a:lstStyle/>
                    <a:p>
                      <a:pPr indent="0" lvl="0" marL="0" rtl="0" algn="l">
                        <a:spcBef>
                          <a:spcPts val="0"/>
                        </a:spcBef>
                        <a:spcAft>
                          <a:spcPts val="0"/>
                        </a:spcAft>
                        <a:buNone/>
                      </a:pPr>
                      <a:r>
                        <a:rPr lang="en-US" sz="1300"/>
                        <a:t>2802.62</a:t>
                      </a:r>
                      <a:endParaRPr sz="1300"/>
                    </a:p>
                  </a:txBody>
                  <a:tcPr marT="91425" marB="91425" marR="91425" marL="91425"/>
                </a:tc>
                <a:tc>
                  <a:txBody>
                    <a:bodyPr/>
                    <a:lstStyle/>
                    <a:p>
                      <a:pPr indent="0" lvl="0" marL="0" rtl="0" algn="l">
                        <a:spcBef>
                          <a:spcPts val="0"/>
                        </a:spcBef>
                        <a:spcAft>
                          <a:spcPts val="0"/>
                        </a:spcAft>
                        <a:buNone/>
                      </a:pPr>
                      <a:r>
                        <a:rPr lang="en-US" sz="1300"/>
                        <a:t>13767</a:t>
                      </a:r>
                      <a:endParaRPr sz="13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300"/>
                        <a:t>0.011050</a:t>
                      </a:r>
                      <a:endParaRPr sz="13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300"/>
                        <a:t>121.40</a:t>
                      </a:r>
                      <a:endParaRPr sz="13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300"/>
                        <a:t>13768</a:t>
                      </a:r>
                      <a:endParaRPr sz="13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300"/>
                        <a:t>0.011406</a:t>
                      </a:r>
                      <a:endParaRPr sz="13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300"/>
                        <a:t>125.90</a:t>
                      </a:r>
                      <a:endParaRPr sz="1300"/>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US" sz="1100"/>
                        <a:t>Aggressive</a:t>
                      </a:r>
                      <a:r>
                        <a:rPr lang="en-US" sz="1100"/>
                        <a:t> Strategy</a:t>
                      </a:r>
                      <a:endParaRPr sz="1100"/>
                    </a:p>
                  </a:txBody>
                  <a:tcPr marT="91425" marB="91425" marR="91425" marL="91425"/>
                </a:tc>
                <a:tc>
                  <a:txBody>
                    <a:bodyPr/>
                    <a:lstStyle/>
                    <a:p>
                      <a:pPr indent="0" lvl="0" marL="0" rtl="0" algn="l">
                        <a:spcBef>
                          <a:spcPts val="0"/>
                        </a:spcBef>
                        <a:spcAft>
                          <a:spcPts val="0"/>
                        </a:spcAft>
                        <a:buNone/>
                      </a:pPr>
                      <a:r>
                        <a:rPr lang="en-US" sz="1100"/>
                        <a:t>0.3</a:t>
                      </a:r>
                      <a:endParaRPr sz="1100"/>
                    </a:p>
                  </a:txBody>
                  <a:tcPr marT="91425" marB="91425" marR="91425" marL="91425"/>
                </a:tc>
                <a:tc>
                  <a:txBody>
                    <a:bodyPr/>
                    <a:lstStyle/>
                    <a:p>
                      <a:pPr indent="0" lvl="0" marL="0" rtl="0" algn="l">
                        <a:spcBef>
                          <a:spcPts val="0"/>
                        </a:spcBef>
                        <a:spcAft>
                          <a:spcPts val="0"/>
                        </a:spcAft>
                        <a:buNone/>
                      </a:pPr>
                      <a:r>
                        <a:rPr lang="en-US" sz="1300"/>
                        <a:t>64246</a:t>
                      </a:r>
                      <a:endParaRPr sz="1300"/>
                    </a:p>
                  </a:txBody>
                  <a:tcPr marT="91425" marB="91425" marR="91425" marL="91425"/>
                </a:tc>
                <a:tc>
                  <a:txBody>
                    <a:bodyPr/>
                    <a:lstStyle/>
                    <a:p>
                      <a:pPr indent="0" lvl="0" marL="0" rtl="0" algn="l">
                        <a:spcBef>
                          <a:spcPts val="0"/>
                        </a:spcBef>
                        <a:spcAft>
                          <a:spcPts val="0"/>
                        </a:spcAft>
                        <a:buNone/>
                      </a:pPr>
                      <a:r>
                        <a:rPr lang="en-US" sz="1300"/>
                        <a:t>0.066485</a:t>
                      </a:r>
                      <a:endParaRPr sz="1300"/>
                    </a:p>
                  </a:txBody>
                  <a:tcPr marT="91425" marB="91425" marR="91425" marL="91425"/>
                </a:tc>
                <a:tc>
                  <a:txBody>
                    <a:bodyPr/>
                    <a:lstStyle/>
                    <a:p>
                      <a:pPr indent="0" lvl="0" marL="0" rtl="0" algn="l">
                        <a:spcBef>
                          <a:spcPts val="0"/>
                        </a:spcBef>
                        <a:spcAft>
                          <a:spcPts val="0"/>
                        </a:spcAft>
                        <a:buNone/>
                      </a:pPr>
                      <a:r>
                        <a:rPr lang="en-US" sz="1300"/>
                        <a:t>3925.65</a:t>
                      </a:r>
                      <a:endParaRPr sz="1300"/>
                    </a:p>
                  </a:txBody>
                  <a:tcPr marT="91425" marB="91425" marR="91425" marL="91425"/>
                </a:tc>
                <a:tc>
                  <a:txBody>
                    <a:bodyPr/>
                    <a:lstStyle/>
                    <a:p>
                      <a:pPr indent="0" lvl="0" marL="0" rtl="0" algn="l">
                        <a:spcBef>
                          <a:spcPts val="0"/>
                        </a:spcBef>
                        <a:spcAft>
                          <a:spcPts val="0"/>
                        </a:spcAft>
                        <a:buNone/>
                      </a:pPr>
                      <a:r>
                        <a:rPr lang="en-US" sz="1300"/>
                        <a:t>13767</a:t>
                      </a:r>
                      <a:endParaRPr sz="1300"/>
                    </a:p>
                  </a:txBody>
                  <a:tcPr marT="91425" marB="91425" marR="91425" marL="91425"/>
                </a:tc>
                <a:tc>
                  <a:txBody>
                    <a:bodyPr/>
                    <a:lstStyle/>
                    <a:p>
                      <a:pPr indent="0" lvl="0" marL="0" rtl="0" algn="l">
                        <a:spcBef>
                          <a:spcPts val="0"/>
                        </a:spcBef>
                        <a:spcAft>
                          <a:spcPts val="0"/>
                        </a:spcAft>
                        <a:buNone/>
                      </a:pPr>
                      <a:r>
                        <a:rPr lang="en-US" sz="1300"/>
                        <a:t>0.064432</a:t>
                      </a:r>
                      <a:endParaRPr sz="1300"/>
                    </a:p>
                  </a:txBody>
                  <a:tcPr marT="91425" marB="91425" marR="91425" marL="91425"/>
                </a:tc>
                <a:tc>
                  <a:txBody>
                    <a:bodyPr/>
                    <a:lstStyle/>
                    <a:p>
                      <a:pPr indent="0" lvl="0" marL="0" rtl="0" algn="l">
                        <a:spcBef>
                          <a:spcPts val="0"/>
                        </a:spcBef>
                        <a:spcAft>
                          <a:spcPts val="0"/>
                        </a:spcAft>
                        <a:buNone/>
                      </a:pPr>
                      <a:r>
                        <a:rPr lang="en-US" sz="1300"/>
                        <a:t>175.06</a:t>
                      </a:r>
                      <a:endParaRPr sz="1300"/>
                    </a:p>
                  </a:txBody>
                  <a:tcPr marT="91425" marB="91425" marR="91425" marL="91425"/>
                </a:tc>
                <a:tc>
                  <a:txBody>
                    <a:bodyPr/>
                    <a:lstStyle/>
                    <a:p>
                      <a:pPr indent="0" lvl="0" marL="0" rtl="0" algn="l">
                        <a:spcBef>
                          <a:spcPts val="0"/>
                        </a:spcBef>
                        <a:spcAft>
                          <a:spcPts val="0"/>
                        </a:spcAft>
                        <a:buNone/>
                      </a:pPr>
                      <a:r>
                        <a:rPr lang="en-US" sz="1300"/>
                        <a:t>13768</a:t>
                      </a:r>
                      <a:endParaRPr sz="1300"/>
                    </a:p>
                  </a:txBody>
                  <a:tcPr marT="91425" marB="91425" marR="91425" marL="91425"/>
                </a:tc>
                <a:tc>
                  <a:txBody>
                    <a:bodyPr/>
                    <a:lstStyle/>
                    <a:p>
                      <a:pPr indent="0" lvl="0" marL="0" rtl="0" algn="l">
                        <a:spcBef>
                          <a:spcPts val="0"/>
                        </a:spcBef>
                        <a:spcAft>
                          <a:spcPts val="0"/>
                        </a:spcAft>
                        <a:buNone/>
                      </a:pPr>
                      <a:r>
                        <a:rPr lang="en-US" sz="1300"/>
                        <a:t>0.065989</a:t>
                      </a:r>
                      <a:endParaRPr sz="1300"/>
                    </a:p>
                  </a:txBody>
                  <a:tcPr marT="91425" marB="91425" marR="91425" marL="91425"/>
                </a:tc>
                <a:tc>
                  <a:txBody>
                    <a:bodyPr/>
                    <a:lstStyle/>
                    <a:p>
                      <a:pPr indent="0" lvl="0" marL="0" rtl="0" algn="l">
                        <a:spcBef>
                          <a:spcPts val="0"/>
                        </a:spcBef>
                        <a:spcAft>
                          <a:spcPts val="0"/>
                        </a:spcAft>
                        <a:buNone/>
                      </a:pPr>
                      <a:r>
                        <a:rPr lang="en-US" sz="1300"/>
                        <a:t>179.15</a:t>
                      </a:r>
                      <a:endParaRPr sz="1300"/>
                    </a:p>
                  </a:txBody>
                  <a:tcPr marT="91425" marB="91425" marR="91425" marL="91425"/>
                </a:tc>
              </a:tr>
            </a:tbl>
          </a:graphicData>
        </a:graphic>
      </p:graphicFrame>
      <p:sp>
        <p:nvSpPr>
          <p:cNvPr id="293" name="Google Shape;293;p2"/>
          <p:cNvSpPr txBox="1"/>
          <p:nvPr/>
        </p:nvSpPr>
        <p:spPr>
          <a:xfrm>
            <a:off x="420700" y="1569425"/>
            <a:ext cx="11350500" cy="27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600">
                <a:solidFill>
                  <a:srgbClr val="1F1F1F"/>
                </a:solidFill>
                <a:latin typeface="Calibri"/>
                <a:ea typeface="Calibri"/>
                <a:cs typeface="Calibri"/>
                <a:sym typeface="Calibri"/>
              </a:rPr>
              <a:t>OBJECTIVE: Create an efficient default prediction model using XGBoost while finding a balance between increasing revenue and lowering credit card defaults.</a:t>
            </a:r>
            <a:endParaRPr sz="1600">
              <a:solidFill>
                <a:srgbClr val="1F1F1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600">
              <a:solidFill>
                <a:srgbClr val="1F1F1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600">
                <a:solidFill>
                  <a:srgbClr val="1F1F1F"/>
                </a:solidFill>
                <a:latin typeface="Calibri"/>
                <a:ea typeface="Calibri"/>
                <a:cs typeface="Calibri"/>
                <a:sym typeface="Calibri"/>
              </a:rPr>
              <a:t>Key Accomplishments: </a:t>
            </a:r>
            <a:endParaRPr sz="1600">
              <a:solidFill>
                <a:srgbClr val="1F1F1F"/>
              </a:solidFill>
              <a:latin typeface="Calibri"/>
              <a:ea typeface="Calibri"/>
              <a:cs typeface="Calibri"/>
              <a:sym typeface="Calibri"/>
            </a:endParaRPr>
          </a:p>
          <a:p>
            <a:pPr indent="-330200" lvl="0" marL="457200" rtl="0" algn="l">
              <a:spcBef>
                <a:spcPts val="0"/>
              </a:spcBef>
              <a:spcAft>
                <a:spcPts val="0"/>
              </a:spcAft>
              <a:buClr>
                <a:srgbClr val="1F1F1F"/>
              </a:buClr>
              <a:buSzPts val="1600"/>
              <a:buFont typeface="Calibri"/>
              <a:buAutoNum type="arabicPeriod"/>
            </a:pPr>
            <a:r>
              <a:rPr lang="en-US" sz="1600">
                <a:solidFill>
                  <a:srgbClr val="1F1F1F"/>
                </a:solidFill>
                <a:latin typeface="Calibri"/>
                <a:ea typeface="Calibri"/>
                <a:cs typeface="Calibri"/>
                <a:sym typeface="Calibri"/>
              </a:rPr>
              <a:t>Built a robust model that anticipates defaults with a 94% accuracy rate.</a:t>
            </a:r>
            <a:endParaRPr sz="1600">
              <a:solidFill>
                <a:srgbClr val="1F1F1F"/>
              </a:solidFill>
              <a:latin typeface="Calibri"/>
              <a:ea typeface="Calibri"/>
              <a:cs typeface="Calibri"/>
              <a:sym typeface="Calibri"/>
            </a:endParaRPr>
          </a:p>
          <a:p>
            <a:pPr indent="-330200" lvl="0" marL="457200" rtl="0" algn="l">
              <a:spcBef>
                <a:spcPts val="0"/>
              </a:spcBef>
              <a:spcAft>
                <a:spcPts val="0"/>
              </a:spcAft>
              <a:buClr>
                <a:srgbClr val="1F1F1F"/>
              </a:buClr>
              <a:buSzPts val="1600"/>
              <a:buFont typeface="Calibri"/>
              <a:buAutoNum type="arabicPeriod"/>
            </a:pPr>
            <a:r>
              <a:rPr lang="en-US" sz="1600">
                <a:solidFill>
                  <a:srgbClr val="1F1F1F"/>
                </a:solidFill>
                <a:latin typeface="Calibri"/>
                <a:ea typeface="Calibri"/>
                <a:cs typeface="Calibri"/>
                <a:sym typeface="Calibri"/>
              </a:rPr>
              <a:t>By detecting high-risk clients, our methodology enables proactive risk control.</a:t>
            </a:r>
            <a:endParaRPr sz="1600">
              <a:solidFill>
                <a:srgbClr val="1F1F1F"/>
              </a:solidFill>
              <a:latin typeface="Calibri"/>
              <a:ea typeface="Calibri"/>
              <a:cs typeface="Calibri"/>
              <a:sym typeface="Calibri"/>
            </a:endParaRPr>
          </a:p>
          <a:p>
            <a:pPr indent="0" lvl="0" marL="0" rtl="0" algn="l">
              <a:spcBef>
                <a:spcPts val="0"/>
              </a:spcBef>
              <a:spcAft>
                <a:spcPts val="0"/>
              </a:spcAft>
              <a:buNone/>
            </a:pPr>
            <a:r>
              <a:t/>
            </a:r>
            <a:endParaRPr sz="1600">
              <a:solidFill>
                <a:srgbClr val="1F1F1F"/>
              </a:solidFill>
              <a:latin typeface="Calibri"/>
              <a:ea typeface="Calibri"/>
              <a:cs typeface="Calibri"/>
              <a:sym typeface="Calibri"/>
            </a:endParaRPr>
          </a:p>
          <a:p>
            <a:pPr indent="0" lvl="0" marL="0" rtl="0" algn="l">
              <a:spcBef>
                <a:spcPts val="0"/>
              </a:spcBef>
              <a:spcAft>
                <a:spcPts val="0"/>
              </a:spcAft>
              <a:buNone/>
            </a:pPr>
            <a:r>
              <a:rPr lang="en-US" sz="1600">
                <a:solidFill>
                  <a:srgbClr val="1F1F1F"/>
                </a:solidFill>
                <a:latin typeface="Calibri"/>
                <a:ea typeface="Calibri"/>
                <a:cs typeface="Calibri"/>
                <a:sym typeface="Calibri"/>
              </a:rPr>
              <a:t>Impact: Our XGBoost model greatly improves financial organizations' decision-making. It reduces losses, promotes regulatory compliance, and strengthens data-driven tactics.</a:t>
            </a:r>
            <a:endParaRPr sz="1600">
              <a:solidFill>
                <a:srgbClr val="1F1F1F"/>
              </a:solidFill>
              <a:latin typeface="Calibri"/>
              <a:ea typeface="Calibri"/>
              <a:cs typeface="Calibri"/>
              <a:sym typeface="Calibri"/>
            </a:endParaRPr>
          </a:p>
        </p:txBody>
      </p:sp>
      <p:sp>
        <p:nvSpPr>
          <p:cNvPr id="294" name="Google Shape;294;p2"/>
          <p:cNvSpPr txBox="1"/>
          <p:nvPr/>
        </p:nvSpPr>
        <p:spPr>
          <a:xfrm>
            <a:off x="12685725" y="1305850"/>
            <a:ext cx="9018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rgbClr val="1F1F1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Data</a:t>
            </a:r>
            <a:endParaRPr/>
          </a:p>
        </p:txBody>
      </p:sp>
      <p:cxnSp>
        <p:nvCxnSpPr>
          <p:cNvPr id="300" name="Google Shape;300;p3"/>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301" name="Google Shape;301;p3"/>
          <p:cNvSpPr txBox="1"/>
          <p:nvPr/>
        </p:nvSpPr>
        <p:spPr>
          <a:xfrm>
            <a:off x="424075" y="1639300"/>
            <a:ext cx="4341300" cy="46503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None/>
            </a:pPr>
            <a:r>
              <a:rPr lang="en-US" sz="2100">
                <a:solidFill>
                  <a:srgbClr val="1F1F1F"/>
                </a:solidFill>
                <a:latin typeface="Calibri"/>
                <a:ea typeface="Calibri"/>
                <a:cs typeface="Calibri"/>
                <a:sym typeface="Calibri"/>
              </a:rPr>
              <a:t>We have chosen to use data spanning 13</a:t>
            </a:r>
            <a:r>
              <a:rPr lang="en-US" sz="1600">
                <a:solidFill>
                  <a:srgbClr val="1F1F1F"/>
                </a:solidFill>
                <a:latin typeface="Calibri"/>
                <a:ea typeface="Calibri"/>
                <a:cs typeface="Calibri"/>
                <a:sym typeface="Calibri"/>
              </a:rPr>
              <a:t> </a:t>
            </a:r>
            <a:r>
              <a:rPr lang="en-US" sz="2100">
                <a:solidFill>
                  <a:srgbClr val="1F1F1F"/>
                </a:solidFill>
                <a:latin typeface="Calibri"/>
                <a:ea typeface="Calibri"/>
                <a:cs typeface="Calibri"/>
                <a:sym typeface="Calibri"/>
              </a:rPr>
              <a:t>months, from March 2017 to March 2018, for our credit risk model. We have adequate historical data from this period to record a variety of consumer trends and financial circumstances.</a:t>
            </a:r>
            <a:endParaRPr sz="2100">
              <a:solidFill>
                <a:srgbClr val="1F1F1F"/>
              </a:solidFill>
              <a:latin typeface="Calibri"/>
              <a:ea typeface="Calibri"/>
              <a:cs typeface="Calibri"/>
              <a:sym typeface="Calibri"/>
            </a:endParaRPr>
          </a:p>
          <a:p>
            <a:pPr indent="0" lvl="0" marL="457200" rtl="0" algn="l">
              <a:spcBef>
                <a:spcPts val="0"/>
              </a:spcBef>
              <a:spcAft>
                <a:spcPts val="0"/>
              </a:spcAft>
              <a:buNone/>
            </a:pPr>
            <a:r>
              <a:t/>
            </a:r>
            <a:endParaRPr sz="2100">
              <a:solidFill>
                <a:srgbClr val="1F1F1F"/>
              </a:solidFill>
              <a:latin typeface="Calibri"/>
              <a:ea typeface="Calibri"/>
              <a:cs typeface="Calibri"/>
              <a:sym typeface="Calibri"/>
            </a:endParaRPr>
          </a:p>
          <a:p>
            <a:pPr indent="0" lvl="0" marL="457200" rtl="0" algn="l">
              <a:spcBef>
                <a:spcPts val="0"/>
              </a:spcBef>
              <a:spcAft>
                <a:spcPts val="0"/>
              </a:spcAft>
              <a:buNone/>
            </a:pPr>
            <a:r>
              <a:rPr lang="en-US" sz="2100">
                <a:solidFill>
                  <a:srgbClr val="1F1F1F"/>
                </a:solidFill>
                <a:latin typeface="Calibri"/>
                <a:ea typeface="Calibri"/>
                <a:cs typeface="Calibri"/>
                <a:sym typeface="Calibri"/>
              </a:rPr>
              <a:t>The target variable in this model represents whether a customer will default in the following 12 months.</a:t>
            </a:r>
            <a:endParaRPr sz="2100">
              <a:solidFill>
                <a:srgbClr val="1F1F1F"/>
              </a:solidFill>
              <a:latin typeface="Calibri"/>
              <a:ea typeface="Calibri"/>
              <a:cs typeface="Calibri"/>
              <a:sym typeface="Calibri"/>
            </a:endParaRPr>
          </a:p>
          <a:p>
            <a:pPr indent="0" lvl="0" marL="0" rtl="0" algn="l">
              <a:spcBef>
                <a:spcPts val="0"/>
              </a:spcBef>
              <a:spcAft>
                <a:spcPts val="0"/>
              </a:spcAft>
              <a:buNone/>
            </a:pPr>
            <a:r>
              <a:t/>
            </a:r>
            <a:endParaRPr sz="2800">
              <a:solidFill>
                <a:srgbClr val="1F1F1F"/>
              </a:solidFill>
              <a:latin typeface="Calibri"/>
              <a:ea typeface="Calibri"/>
              <a:cs typeface="Calibri"/>
              <a:sym typeface="Calibri"/>
            </a:endParaRPr>
          </a:p>
          <a:p>
            <a:pPr indent="0" lvl="0" marL="0" rtl="0" algn="l">
              <a:spcBef>
                <a:spcPts val="0"/>
              </a:spcBef>
              <a:spcAft>
                <a:spcPts val="0"/>
              </a:spcAft>
              <a:buNone/>
            </a:pPr>
            <a:r>
              <a:t/>
            </a:r>
            <a:endParaRPr sz="2800">
              <a:solidFill>
                <a:srgbClr val="1F1F1F"/>
              </a:solidFill>
              <a:latin typeface="Calibri"/>
              <a:ea typeface="Calibri"/>
              <a:cs typeface="Calibri"/>
              <a:sym typeface="Calibri"/>
            </a:endParaRPr>
          </a:p>
          <a:p>
            <a:pPr indent="0" lvl="0" marL="0" rtl="0" algn="l">
              <a:spcBef>
                <a:spcPts val="0"/>
              </a:spcBef>
              <a:spcAft>
                <a:spcPts val="0"/>
              </a:spcAft>
              <a:buNone/>
            </a:pPr>
            <a:r>
              <a:t/>
            </a:r>
            <a:endParaRPr sz="2800">
              <a:solidFill>
                <a:srgbClr val="1F1F1F"/>
              </a:solidFill>
              <a:latin typeface="Calibri"/>
              <a:ea typeface="Calibri"/>
              <a:cs typeface="Calibri"/>
              <a:sym typeface="Calibri"/>
            </a:endParaRPr>
          </a:p>
          <a:p>
            <a:pPr indent="0" lvl="0" marL="0" rtl="0" algn="l">
              <a:spcBef>
                <a:spcPts val="0"/>
              </a:spcBef>
              <a:spcAft>
                <a:spcPts val="0"/>
              </a:spcAft>
              <a:buNone/>
            </a:pPr>
            <a:r>
              <a:t/>
            </a:r>
            <a:endParaRPr sz="2800">
              <a:solidFill>
                <a:srgbClr val="1F1F1F"/>
              </a:solidFill>
              <a:latin typeface="Calibri"/>
              <a:ea typeface="Calibri"/>
              <a:cs typeface="Calibri"/>
              <a:sym typeface="Calibri"/>
            </a:endParaRPr>
          </a:p>
          <a:p>
            <a:pPr indent="0" lvl="0" marL="0" rtl="0" algn="l">
              <a:spcBef>
                <a:spcPts val="0"/>
              </a:spcBef>
              <a:spcAft>
                <a:spcPts val="0"/>
              </a:spcAft>
              <a:buNone/>
            </a:pPr>
            <a:r>
              <a:t/>
            </a:r>
            <a:endParaRPr sz="2800">
              <a:solidFill>
                <a:srgbClr val="1F1F1F"/>
              </a:solidFill>
              <a:latin typeface="Calibri"/>
              <a:ea typeface="Calibri"/>
              <a:cs typeface="Calibri"/>
              <a:sym typeface="Calibri"/>
            </a:endParaRPr>
          </a:p>
          <a:p>
            <a:pPr indent="0" lvl="0" marL="0" rtl="0" algn="l">
              <a:spcBef>
                <a:spcPts val="0"/>
              </a:spcBef>
              <a:spcAft>
                <a:spcPts val="0"/>
              </a:spcAft>
              <a:buNone/>
            </a:pPr>
            <a:r>
              <a:t/>
            </a:r>
            <a:endParaRPr sz="2800">
              <a:solidFill>
                <a:srgbClr val="1F1F1F"/>
              </a:solidFill>
              <a:latin typeface="Calibri"/>
              <a:ea typeface="Calibri"/>
              <a:cs typeface="Calibri"/>
              <a:sym typeface="Calibri"/>
            </a:endParaRPr>
          </a:p>
        </p:txBody>
      </p:sp>
      <p:graphicFrame>
        <p:nvGraphicFramePr>
          <p:cNvPr id="302" name="Google Shape;302;p3"/>
          <p:cNvGraphicFramePr/>
          <p:nvPr/>
        </p:nvGraphicFramePr>
        <p:xfrm>
          <a:off x="5384450" y="1433100"/>
          <a:ext cx="3000000" cy="3000000"/>
        </p:xfrm>
        <a:graphic>
          <a:graphicData uri="http://schemas.openxmlformats.org/drawingml/2006/table">
            <a:tbl>
              <a:tblPr>
                <a:noFill/>
                <a:tableStyleId>{9CE71C27-0CDF-4641-BA4E-4B8CD2B942D0}</a:tableStyleId>
              </a:tblPr>
              <a:tblGrid>
                <a:gridCol w="574575"/>
                <a:gridCol w="3272075"/>
                <a:gridCol w="1100000"/>
                <a:gridCol w="1003650"/>
              </a:tblGrid>
              <a:tr h="405025">
                <a:tc>
                  <a:txBody>
                    <a:bodyPr/>
                    <a:lstStyle/>
                    <a:p>
                      <a:pPr indent="0" lvl="0" marL="0" rtl="0" algn="l">
                        <a:spcBef>
                          <a:spcPts val="0"/>
                        </a:spcBef>
                        <a:spcAft>
                          <a:spcPts val="0"/>
                        </a:spcAft>
                        <a:buNone/>
                      </a:pPr>
                      <a:r>
                        <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b="1" lang="en-US" sz="1100">
                          <a:solidFill>
                            <a:srgbClr val="1F1F1F"/>
                          </a:solidFill>
                        </a:rPr>
                        <a:t>months_of_data</a:t>
                      </a:r>
                      <a:endParaRPr b="1" sz="1100">
                        <a:solidFill>
                          <a:srgbClr val="1F1F1F"/>
                        </a:solidFill>
                      </a:endParaRPr>
                    </a:p>
                  </a:txBody>
                  <a:tcPr marT="91425" marB="91425" marR="91425" marL="91425"/>
                </a:tc>
                <a:tc>
                  <a:txBody>
                    <a:bodyPr/>
                    <a:lstStyle/>
                    <a:p>
                      <a:pPr indent="0" lvl="0" marL="0" rtl="0" algn="l">
                        <a:spcBef>
                          <a:spcPts val="0"/>
                        </a:spcBef>
                        <a:spcAft>
                          <a:spcPts val="0"/>
                        </a:spcAft>
                        <a:buNone/>
                      </a:pPr>
                      <a:r>
                        <a:rPr b="1" lang="en-US" sz="1100">
                          <a:solidFill>
                            <a:srgbClr val="1F1F1F"/>
                          </a:solidFill>
                        </a:rPr>
                        <a:t>Observations</a:t>
                      </a:r>
                      <a:endParaRPr b="1" sz="1100">
                        <a:solidFill>
                          <a:srgbClr val="1F1F1F"/>
                        </a:solidFill>
                      </a:endParaRPr>
                    </a:p>
                  </a:txBody>
                  <a:tcPr marT="91425" marB="91425" marR="91425" marL="91425"/>
                </a:tc>
                <a:tc>
                  <a:txBody>
                    <a:bodyPr/>
                    <a:lstStyle/>
                    <a:p>
                      <a:pPr indent="0" lvl="0" marL="0" rtl="0" algn="l">
                        <a:spcBef>
                          <a:spcPts val="0"/>
                        </a:spcBef>
                        <a:spcAft>
                          <a:spcPts val="0"/>
                        </a:spcAft>
                        <a:buNone/>
                      </a:pPr>
                      <a:r>
                        <a:rPr b="1" lang="en-US" sz="1100">
                          <a:solidFill>
                            <a:srgbClr val="1F1F1F"/>
                          </a:solidFill>
                        </a:rPr>
                        <a:t>default_rate</a:t>
                      </a:r>
                      <a:endParaRPr b="1" sz="1100">
                        <a:solidFill>
                          <a:srgbClr val="1F1F1F"/>
                        </a:solidFill>
                      </a:endParaRPr>
                    </a:p>
                  </a:txBody>
                  <a:tcPr marT="91425" marB="91425" marR="91425" marL="91425"/>
                </a:tc>
              </a:tr>
              <a:tr h="327200">
                <a:tc>
                  <a:txBody>
                    <a:bodyPr/>
                    <a:lstStyle/>
                    <a:p>
                      <a:pPr indent="0" lvl="0" marL="0" rtl="0" algn="l">
                        <a:spcBef>
                          <a:spcPts val="0"/>
                        </a:spcBef>
                        <a:spcAft>
                          <a:spcPts val="0"/>
                        </a:spcAft>
                        <a:buNone/>
                      </a:pPr>
                      <a:r>
                        <a:rPr lang="en-US" sz="1100">
                          <a:solidFill>
                            <a:srgbClr val="1F1F1F"/>
                          </a:solidFill>
                        </a:rPr>
                        <a:t>0</a:t>
                      </a:r>
                      <a:endParaRPr sz="1100">
                        <a:solidFill>
                          <a:srgbClr val="1F1F1F"/>
                        </a:solidFill>
                      </a:endParaRPr>
                    </a:p>
                  </a:txBody>
                  <a:tcPr marT="91425" marB="91425" marR="91425" marL="91425"/>
                </a:tc>
                <a:tc>
                  <a:txBody>
                    <a:bodyPr/>
                    <a:lstStyle/>
                    <a:p>
                      <a:pPr indent="0" lvl="0" marL="0" rtl="0" algn="ctr">
                        <a:spcBef>
                          <a:spcPts val="0"/>
                        </a:spcBef>
                        <a:spcAft>
                          <a:spcPts val="0"/>
                        </a:spcAft>
                        <a:buNone/>
                      </a:pPr>
                      <a:r>
                        <a:rPr lang="en-US" sz="1100">
                          <a:solidFill>
                            <a:srgbClr val="1F1F1F"/>
                          </a:solidFill>
                        </a:rPr>
                        <a:t> all applications</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1107082</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0.246498</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1</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applications with 13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1025914</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0.229665</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2</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applications with 12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15733</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0.470760</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3</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applications with 11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8105</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0.484687</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4</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applications with 10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11569</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0.493628</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5</a:t>
                      </a:r>
                      <a:endParaRPr sz="11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1F1F1F"/>
                          </a:solidFill>
                        </a:rPr>
                        <a:t>applications with 9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10377</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0.460877</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6</a:t>
                      </a:r>
                      <a:endParaRPr sz="11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1F1F1F"/>
                          </a:solidFill>
                        </a:rPr>
                        <a:t>applications with 8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8655</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0.470534</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7</a:t>
                      </a:r>
                      <a:endParaRPr sz="11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1F1F1F"/>
                          </a:solidFill>
                        </a:rPr>
                        <a:t>applications with 7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6200</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0.454443</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8</a:t>
                      </a:r>
                      <a:endParaRPr sz="11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1F1F1F"/>
                          </a:solidFill>
                        </a:rPr>
                        <a:t>applications with 6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5781</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0.446281</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9</a:t>
                      </a:r>
                      <a:endParaRPr sz="11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1F1F1F"/>
                          </a:solidFill>
                        </a:rPr>
                        <a:t>applications with 5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4499</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0.405495</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10</a:t>
                      </a:r>
                      <a:endParaRPr sz="11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1F1F1F"/>
                          </a:solidFill>
                        </a:rPr>
                        <a:t>applications with 4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3603</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0.443693</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11</a:t>
                      </a:r>
                      <a:endParaRPr sz="11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1F1F1F"/>
                          </a:solidFill>
                        </a:rPr>
                        <a:t>applications with 3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3376</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0.349913</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12</a:t>
                      </a:r>
                      <a:endParaRPr sz="11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1F1F1F"/>
                          </a:solidFill>
                        </a:rPr>
                        <a:t>applications with 2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2286</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0.315836</a:t>
                      </a:r>
                      <a:endParaRPr sz="1100">
                        <a:solidFill>
                          <a:srgbClr val="1F1F1F"/>
                        </a:solidFill>
                      </a:endParaRPr>
                    </a:p>
                  </a:txBody>
                  <a:tcPr marT="91425" marB="91425" marR="91425" marL="91425"/>
                </a:tc>
              </a:tr>
              <a:tr h="319800">
                <a:tc>
                  <a:txBody>
                    <a:bodyPr/>
                    <a:lstStyle/>
                    <a:p>
                      <a:pPr indent="0" lvl="0" marL="0" rtl="0" algn="l">
                        <a:spcBef>
                          <a:spcPts val="0"/>
                        </a:spcBef>
                        <a:spcAft>
                          <a:spcPts val="0"/>
                        </a:spcAft>
                        <a:buNone/>
                      </a:pPr>
                      <a:r>
                        <a:rPr lang="en-US" sz="1100">
                          <a:solidFill>
                            <a:srgbClr val="1F1F1F"/>
                          </a:solidFill>
                        </a:rPr>
                        <a:t>13</a:t>
                      </a:r>
                      <a:endParaRPr sz="11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1F1F1F"/>
                          </a:solidFill>
                        </a:rPr>
                        <a:t>applications with 1 months of historical data</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984</a:t>
                      </a:r>
                      <a:endParaRPr sz="1100">
                        <a:solidFill>
                          <a:srgbClr val="1F1F1F"/>
                        </a:solidFill>
                      </a:endParaRPr>
                    </a:p>
                  </a:txBody>
                  <a:tcPr marT="91425" marB="91425" marR="91425" marL="91425"/>
                </a:tc>
                <a:tc>
                  <a:txBody>
                    <a:bodyPr/>
                    <a:lstStyle/>
                    <a:p>
                      <a:pPr indent="0" lvl="0" marL="0" rtl="0" algn="l">
                        <a:spcBef>
                          <a:spcPts val="0"/>
                        </a:spcBef>
                        <a:spcAft>
                          <a:spcPts val="0"/>
                        </a:spcAft>
                        <a:buNone/>
                      </a:pPr>
                      <a:r>
                        <a:rPr lang="en-US" sz="1100">
                          <a:solidFill>
                            <a:srgbClr val="1F1F1F"/>
                          </a:solidFill>
                        </a:rPr>
                        <a:t>0.331301</a:t>
                      </a:r>
                      <a:endParaRPr sz="1100">
                        <a:solidFill>
                          <a:srgbClr val="1F1F1F"/>
                        </a:solidFill>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Features</a:t>
            </a:r>
            <a:endParaRPr/>
          </a:p>
        </p:txBody>
      </p:sp>
      <p:cxnSp>
        <p:nvCxnSpPr>
          <p:cNvPr id="308" name="Google Shape;308;p4"/>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309" name="Google Shape;309;p4"/>
          <p:cNvSpPr txBox="1"/>
          <p:nvPr/>
        </p:nvSpPr>
        <p:spPr>
          <a:xfrm>
            <a:off x="666925" y="1623125"/>
            <a:ext cx="5961900" cy="46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F1F1F"/>
                </a:solidFill>
                <a:latin typeface="Calibri"/>
                <a:ea typeface="Calibri"/>
                <a:cs typeface="Calibri"/>
                <a:sym typeface="Calibri"/>
              </a:rPr>
              <a:t>Features Description:</a:t>
            </a:r>
            <a:endParaRPr sz="1800">
              <a:solidFill>
                <a:srgbClr val="1F1F1F"/>
              </a:solidFill>
              <a:latin typeface="Calibri"/>
              <a:ea typeface="Calibri"/>
              <a:cs typeface="Calibri"/>
              <a:sym typeface="Calibri"/>
            </a:endParaRPr>
          </a:p>
          <a:p>
            <a:pPr indent="0" lvl="0" marL="0" rtl="0" algn="l">
              <a:spcBef>
                <a:spcPts val="0"/>
              </a:spcBef>
              <a:spcAft>
                <a:spcPts val="0"/>
              </a:spcAft>
              <a:buNone/>
            </a:pPr>
            <a:r>
              <a:rPr lang="en-US" sz="1800">
                <a:solidFill>
                  <a:srgbClr val="1F1F1F"/>
                </a:solidFill>
                <a:latin typeface="Calibri"/>
                <a:ea typeface="Calibri"/>
                <a:cs typeface="Calibri"/>
                <a:sym typeface="Calibri"/>
              </a:rPr>
              <a:t>• Delinquency Variables: these indicate historical credit behavior by displaying whether payments were late or missed.</a:t>
            </a:r>
            <a:endParaRPr sz="1800">
              <a:solidFill>
                <a:srgbClr val="1F1F1F"/>
              </a:solidFill>
              <a:latin typeface="Calibri"/>
              <a:ea typeface="Calibri"/>
              <a:cs typeface="Calibri"/>
              <a:sym typeface="Calibri"/>
            </a:endParaRPr>
          </a:p>
          <a:p>
            <a:pPr indent="0" lvl="0" marL="0" rtl="0" algn="l">
              <a:spcBef>
                <a:spcPts val="0"/>
              </a:spcBef>
              <a:spcAft>
                <a:spcPts val="0"/>
              </a:spcAft>
              <a:buNone/>
            </a:pPr>
            <a:r>
              <a:rPr lang="en-US" sz="1800">
                <a:solidFill>
                  <a:srgbClr val="1F1F1F"/>
                </a:solidFill>
                <a:latin typeface="Calibri"/>
                <a:ea typeface="Calibri"/>
                <a:cs typeface="Calibri"/>
                <a:sym typeface="Calibri"/>
              </a:rPr>
              <a:t>• Balance Variables: These indicate the amount of debt a borrower has and demonstrate their financial management skills.</a:t>
            </a:r>
            <a:endParaRPr sz="1800">
              <a:solidFill>
                <a:srgbClr val="1F1F1F"/>
              </a:solidFill>
              <a:latin typeface="Calibri"/>
              <a:ea typeface="Calibri"/>
              <a:cs typeface="Calibri"/>
              <a:sym typeface="Calibri"/>
            </a:endParaRPr>
          </a:p>
          <a:p>
            <a:pPr indent="0" lvl="0" marL="0" rtl="0" algn="l">
              <a:spcBef>
                <a:spcPts val="0"/>
              </a:spcBef>
              <a:spcAft>
                <a:spcPts val="0"/>
              </a:spcAft>
              <a:buNone/>
            </a:pPr>
            <a:r>
              <a:rPr lang="en-US" sz="1800">
                <a:solidFill>
                  <a:srgbClr val="1F1F1F"/>
                </a:solidFill>
                <a:latin typeface="Calibri"/>
                <a:ea typeface="Calibri"/>
                <a:cs typeface="Calibri"/>
                <a:sym typeface="Calibri"/>
              </a:rPr>
              <a:t>• Risk variables- Credit scores and credit usage</a:t>
            </a:r>
            <a:endParaRPr sz="1800">
              <a:solidFill>
                <a:srgbClr val="1F1F1F"/>
              </a:solidFill>
              <a:latin typeface="Calibri"/>
              <a:ea typeface="Calibri"/>
              <a:cs typeface="Calibri"/>
              <a:sym typeface="Calibri"/>
            </a:endParaRPr>
          </a:p>
          <a:p>
            <a:pPr indent="0" lvl="0" marL="0" rtl="0" algn="l">
              <a:spcBef>
                <a:spcPts val="0"/>
              </a:spcBef>
              <a:spcAft>
                <a:spcPts val="0"/>
              </a:spcAft>
              <a:buNone/>
            </a:pPr>
            <a:r>
              <a:rPr lang="en-US" sz="1800">
                <a:solidFill>
                  <a:srgbClr val="1F1F1F"/>
                </a:solidFill>
                <a:latin typeface="Calibri"/>
                <a:ea typeface="Calibri"/>
                <a:cs typeface="Calibri"/>
                <a:sym typeface="Calibri"/>
              </a:rPr>
              <a:t>ratios that determine the amount of risk involved</a:t>
            </a:r>
            <a:endParaRPr sz="1800">
              <a:solidFill>
                <a:srgbClr val="1F1F1F"/>
              </a:solidFill>
              <a:latin typeface="Calibri"/>
              <a:ea typeface="Calibri"/>
              <a:cs typeface="Calibri"/>
              <a:sym typeface="Calibri"/>
            </a:endParaRPr>
          </a:p>
          <a:p>
            <a:pPr indent="0" lvl="0" marL="0" rtl="0" algn="l">
              <a:spcBef>
                <a:spcPts val="0"/>
              </a:spcBef>
              <a:spcAft>
                <a:spcPts val="0"/>
              </a:spcAft>
              <a:buNone/>
            </a:pPr>
            <a:r>
              <a:rPr lang="en-US" sz="1800">
                <a:solidFill>
                  <a:srgbClr val="1F1F1F"/>
                </a:solidFill>
                <a:latin typeface="Calibri"/>
                <a:ea typeface="Calibri"/>
                <a:cs typeface="Calibri"/>
                <a:sym typeface="Calibri"/>
              </a:rPr>
              <a:t>with lending to a certain borrower.</a:t>
            </a:r>
            <a:endParaRPr sz="1800">
              <a:solidFill>
                <a:srgbClr val="1F1F1F"/>
              </a:solidFill>
              <a:latin typeface="Calibri"/>
              <a:ea typeface="Calibri"/>
              <a:cs typeface="Calibri"/>
              <a:sym typeface="Calibri"/>
            </a:endParaRPr>
          </a:p>
          <a:p>
            <a:pPr indent="0" lvl="0" marL="0" rtl="0" algn="l">
              <a:spcBef>
                <a:spcPts val="0"/>
              </a:spcBef>
              <a:spcAft>
                <a:spcPts val="0"/>
              </a:spcAft>
              <a:buNone/>
            </a:pPr>
            <a:r>
              <a:rPr lang="en-US" sz="1800">
                <a:solidFill>
                  <a:srgbClr val="1F1F1F"/>
                </a:solidFill>
                <a:latin typeface="Calibri"/>
                <a:ea typeface="Calibri"/>
                <a:cs typeface="Calibri"/>
                <a:sym typeface="Calibri"/>
              </a:rPr>
              <a:t>• </a:t>
            </a:r>
            <a:r>
              <a:rPr lang="en-US" sz="1800">
                <a:solidFill>
                  <a:srgbClr val="1F1F1F"/>
                </a:solidFill>
                <a:latin typeface="Calibri"/>
                <a:ea typeface="Calibri"/>
                <a:cs typeface="Calibri"/>
                <a:sym typeface="Calibri"/>
              </a:rPr>
              <a:t>Spend variables- such as transactional patterns or spending habits, offer more insight into a borrower's lifestyle and financial activity.</a:t>
            </a:r>
            <a:endParaRPr sz="1800">
              <a:solidFill>
                <a:srgbClr val="1F1F1F"/>
              </a:solidFill>
              <a:latin typeface="Calibri"/>
              <a:ea typeface="Calibri"/>
              <a:cs typeface="Calibri"/>
              <a:sym typeface="Calibri"/>
            </a:endParaRPr>
          </a:p>
          <a:p>
            <a:pPr indent="0" lvl="0" marL="0" rtl="0" algn="l">
              <a:spcBef>
                <a:spcPts val="0"/>
              </a:spcBef>
              <a:spcAft>
                <a:spcPts val="0"/>
              </a:spcAft>
              <a:buNone/>
            </a:pPr>
            <a:r>
              <a:rPr lang="en-US" sz="1800">
                <a:solidFill>
                  <a:srgbClr val="1F1F1F"/>
                </a:solidFill>
                <a:latin typeface="Calibri"/>
                <a:ea typeface="Calibri"/>
                <a:cs typeface="Calibri"/>
                <a:sym typeface="Calibri"/>
              </a:rPr>
              <a:t>• Payment variables: these indicate how frequently and consistently payments are made.</a:t>
            </a:r>
            <a:endParaRPr sz="1800">
              <a:solidFill>
                <a:srgbClr val="1F1F1F"/>
              </a:solidFill>
              <a:latin typeface="Calibri"/>
              <a:ea typeface="Calibri"/>
              <a:cs typeface="Calibri"/>
              <a:sym typeface="Calibri"/>
            </a:endParaRPr>
          </a:p>
          <a:p>
            <a:pPr indent="0" lvl="0" marL="0" rtl="0" algn="l">
              <a:spcBef>
                <a:spcPts val="0"/>
              </a:spcBef>
              <a:spcAft>
                <a:spcPts val="0"/>
              </a:spcAft>
              <a:buNone/>
            </a:pPr>
            <a:r>
              <a:t/>
            </a:r>
            <a:endParaRPr sz="2800">
              <a:solidFill>
                <a:srgbClr val="1F1F1F"/>
              </a:solidFill>
              <a:latin typeface="Calibri"/>
              <a:ea typeface="Calibri"/>
              <a:cs typeface="Calibri"/>
              <a:sym typeface="Calibri"/>
            </a:endParaRPr>
          </a:p>
        </p:txBody>
      </p:sp>
      <p:graphicFrame>
        <p:nvGraphicFramePr>
          <p:cNvPr id="310" name="Google Shape;310;p4"/>
          <p:cNvGraphicFramePr/>
          <p:nvPr/>
        </p:nvGraphicFramePr>
        <p:xfrm>
          <a:off x="6515700" y="1809875"/>
          <a:ext cx="3000000" cy="3000000"/>
        </p:xfrm>
        <a:graphic>
          <a:graphicData uri="http://schemas.openxmlformats.org/drawingml/2006/table">
            <a:tbl>
              <a:tblPr>
                <a:noFill/>
                <a:tableStyleId>{9CE71C27-0CDF-4641-BA4E-4B8CD2B942D0}</a:tableStyleId>
              </a:tblPr>
              <a:tblGrid>
                <a:gridCol w="2601050"/>
                <a:gridCol w="2601050"/>
              </a:tblGrid>
              <a:tr h="381000">
                <a:tc>
                  <a:txBody>
                    <a:bodyPr/>
                    <a:lstStyle/>
                    <a:p>
                      <a:pPr indent="0" lvl="0" marL="0" rtl="0" algn="ctr">
                        <a:spcBef>
                          <a:spcPts val="0"/>
                        </a:spcBef>
                        <a:spcAft>
                          <a:spcPts val="0"/>
                        </a:spcAft>
                        <a:buNone/>
                      </a:pPr>
                      <a:r>
                        <a:rPr b="1" lang="en-US" sz="1600"/>
                        <a:t>Category</a:t>
                      </a:r>
                      <a:endParaRPr b="1" sz="1600"/>
                    </a:p>
                  </a:txBody>
                  <a:tcPr marT="91425" marB="91425" marR="91425" marL="91425"/>
                </a:tc>
                <a:tc>
                  <a:txBody>
                    <a:bodyPr/>
                    <a:lstStyle/>
                    <a:p>
                      <a:pPr indent="0" lvl="0" marL="0" rtl="0" algn="ctr">
                        <a:spcBef>
                          <a:spcPts val="0"/>
                        </a:spcBef>
                        <a:spcAft>
                          <a:spcPts val="0"/>
                        </a:spcAft>
                        <a:buNone/>
                      </a:pPr>
                      <a:r>
                        <a:rPr b="1" lang="en-US" sz="1600"/>
                        <a:t>No.</a:t>
                      </a:r>
                      <a:r>
                        <a:rPr b="1" lang="en-US" sz="1600"/>
                        <a:t> of Features</a:t>
                      </a:r>
                      <a:endParaRPr b="1" sz="1600"/>
                    </a:p>
                  </a:txBody>
                  <a:tcPr marT="91425" marB="91425" marR="91425" marL="91425"/>
                </a:tc>
              </a:tr>
              <a:tr h="381000">
                <a:tc>
                  <a:txBody>
                    <a:bodyPr/>
                    <a:lstStyle/>
                    <a:p>
                      <a:pPr indent="0" lvl="0" marL="0" rtl="0" algn="l">
                        <a:spcBef>
                          <a:spcPts val="0"/>
                        </a:spcBef>
                        <a:spcAft>
                          <a:spcPts val="0"/>
                        </a:spcAft>
                        <a:buNone/>
                      </a:pPr>
                      <a:r>
                        <a:rPr lang="en-US"/>
                        <a:t>Delinquency Variables</a:t>
                      </a:r>
                      <a:endParaRPr/>
                    </a:p>
                  </a:txBody>
                  <a:tcPr marT="91425" marB="91425" marR="91425" marL="91425"/>
                </a:tc>
                <a:tc>
                  <a:txBody>
                    <a:bodyPr/>
                    <a:lstStyle/>
                    <a:p>
                      <a:pPr indent="0" lvl="0" marL="0" rtl="0" algn="l">
                        <a:spcBef>
                          <a:spcPts val="0"/>
                        </a:spcBef>
                        <a:spcAft>
                          <a:spcPts val="0"/>
                        </a:spcAft>
                        <a:buNone/>
                      </a:pPr>
                      <a:r>
                        <a:rPr lang="en-US"/>
                        <a:t>96</a:t>
                      </a:r>
                      <a:endParaRPr/>
                    </a:p>
                  </a:txBody>
                  <a:tcPr marT="91425" marB="91425" marR="91425" marL="91425"/>
                </a:tc>
              </a:tr>
              <a:tr h="381000">
                <a:tc>
                  <a:txBody>
                    <a:bodyPr/>
                    <a:lstStyle/>
                    <a:p>
                      <a:pPr indent="0" lvl="0" marL="0" rtl="0" algn="l">
                        <a:spcBef>
                          <a:spcPts val="0"/>
                        </a:spcBef>
                        <a:spcAft>
                          <a:spcPts val="0"/>
                        </a:spcAft>
                        <a:buNone/>
                      </a:pPr>
                      <a:r>
                        <a:rPr lang="en-US"/>
                        <a:t>Balance Variables</a:t>
                      </a:r>
                      <a:endParaRPr/>
                    </a:p>
                  </a:txBody>
                  <a:tcPr marT="91425" marB="91425" marR="91425" marL="91425"/>
                </a:tc>
                <a:tc>
                  <a:txBody>
                    <a:bodyPr/>
                    <a:lstStyle/>
                    <a:p>
                      <a:pPr indent="0" lvl="0" marL="0" rtl="0" algn="l">
                        <a:spcBef>
                          <a:spcPts val="0"/>
                        </a:spcBef>
                        <a:spcAft>
                          <a:spcPts val="0"/>
                        </a:spcAft>
                        <a:buNone/>
                      </a:pPr>
                      <a:r>
                        <a:rPr lang="en-US"/>
                        <a:t>40</a:t>
                      </a:r>
                      <a:endParaRPr/>
                    </a:p>
                  </a:txBody>
                  <a:tcPr marT="91425" marB="91425" marR="91425" marL="91425"/>
                </a:tc>
              </a:tr>
              <a:tr h="381000">
                <a:tc>
                  <a:txBody>
                    <a:bodyPr/>
                    <a:lstStyle/>
                    <a:p>
                      <a:pPr indent="0" lvl="0" marL="0" rtl="0" algn="l">
                        <a:spcBef>
                          <a:spcPts val="0"/>
                        </a:spcBef>
                        <a:spcAft>
                          <a:spcPts val="0"/>
                        </a:spcAft>
                        <a:buNone/>
                      </a:pPr>
                      <a:r>
                        <a:rPr lang="en-US"/>
                        <a:t>Risk variables</a:t>
                      </a:r>
                      <a:endParaRPr/>
                    </a:p>
                  </a:txBody>
                  <a:tcPr marT="91425" marB="91425" marR="91425" marL="91425"/>
                </a:tc>
                <a:tc>
                  <a:txBody>
                    <a:bodyPr/>
                    <a:lstStyle/>
                    <a:p>
                      <a:pPr indent="0" lvl="0" marL="0" rtl="0" algn="l">
                        <a:spcBef>
                          <a:spcPts val="0"/>
                        </a:spcBef>
                        <a:spcAft>
                          <a:spcPts val="0"/>
                        </a:spcAft>
                        <a:buNone/>
                      </a:pPr>
                      <a:r>
                        <a:rPr lang="en-US"/>
                        <a:t>28</a:t>
                      </a:r>
                      <a:endParaRPr/>
                    </a:p>
                  </a:txBody>
                  <a:tcPr marT="91425" marB="91425" marR="91425" marL="91425"/>
                </a:tc>
              </a:tr>
              <a:tr h="381000">
                <a:tc>
                  <a:txBody>
                    <a:bodyPr/>
                    <a:lstStyle/>
                    <a:p>
                      <a:pPr indent="0" lvl="0" marL="0" rtl="0" algn="l">
                        <a:spcBef>
                          <a:spcPts val="0"/>
                        </a:spcBef>
                        <a:spcAft>
                          <a:spcPts val="0"/>
                        </a:spcAft>
                        <a:buNone/>
                      </a:pPr>
                      <a:r>
                        <a:rPr lang="en-US"/>
                        <a:t>Spend variables</a:t>
                      </a:r>
                      <a:endParaRPr/>
                    </a:p>
                  </a:txBody>
                  <a:tcPr marT="91425" marB="91425" marR="91425" marL="91425"/>
                </a:tc>
                <a:tc>
                  <a:txBody>
                    <a:bodyPr/>
                    <a:lstStyle/>
                    <a:p>
                      <a:pPr indent="0" lvl="0" marL="0" rtl="0" algn="l">
                        <a:spcBef>
                          <a:spcPts val="0"/>
                        </a:spcBef>
                        <a:spcAft>
                          <a:spcPts val="0"/>
                        </a:spcAft>
                        <a:buNone/>
                      </a:pPr>
                      <a:r>
                        <a:rPr lang="en-US"/>
                        <a:t>22</a:t>
                      </a:r>
                      <a:endParaRPr/>
                    </a:p>
                  </a:txBody>
                  <a:tcPr marT="91425" marB="91425" marR="91425" marL="91425"/>
                </a:tc>
              </a:tr>
              <a:tr h="381000">
                <a:tc>
                  <a:txBody>
                    <a:bodyPr/>
                    <a:lstStyle/>
                    <a:p>
                      <a:pPr indent="0" lvl="0" marL="0" rtl="0" algn="l">
                        <a:spcBef>
                          <a:spcPts val="0"/>
                        </a:spcBef>
                        <a:spcAft>
                          <a:spcPts val="0"/>
                        </a:spcAft>
                        <a:buNone/>
                      </a:pPr>
                      <a:r>
                        <a:rPr lang="en-US"/>
                        <a:t>Payment variables</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
          <p:cNvSpPr txBox="1"/>
          <p:nvPr>
            <p:ph type="title"/>
          </p:nvPr>
        </p:nvSpPr>
        <p:spPr>
          <a:xfrm>
            <a:off x="838200" y="179775"/>
            <a:ext cx="10515600" cy="124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Feature Engineering</a:t>
            </a:r>
            <a:endParaRPr/>
          </a:p>
        </p:txBody>
      </p:sp>
      <p:cxnSp>
        <p:nvCxnSpPr>
          <p:cNvPr id="316" name="Google Shape;316;p5"/>
          <p:cNvCxnSpPr/>
          <p:nvPr/>
        </p:nvCxnSpPr>
        <p:spPr>
          <a:xfrm>
            <a:off x="952500" y="1202634"/>
            <a:ext cx="10382400" cy="0"/>
          </a:xfrm>
          <a:prstGeom prst="straightConnector1">
            <a:avLst/>
          </a:prstGeom>
          <a:noFill/>
          <a:ln cap="flat" cmpd="sng" w="25400">
            <a:solidFill>
              <a:srgbClr val="8DA9DB"/>
            </a:solidFill>
            <a:prstDash val="solid"/>
            <a:miter lim="800000"/>
            <a:headEnd len="sm" w="sm" type="none"/>
            <a:tailEnd len="sm" w="sm" type="none"/>
          </a:ln>
        </p:spPr>
      </p:cxnSp>
      <p:sp>
        <p:nvSpPr>
          <p:cNvPr id="317" name="Google Shape;317;p5"/>
          <p:cNvSpPr txBox="1"/>
          <p:nvPr/>
        </p:nvSpPr>
        <p:spPr>
          <a:xfrm>
            <a:off x="5729975" y="1554200"/>
            <a:ext cx="3215700" cy="24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F1F1F"/>
                </a:solidFill>
                <a:latin typeface="Calibri"/>
                <a:ea typeface="Calibri"/>
                <a:cs typeface="Calibri"/>
                <a:sym typeface="Calibri"/>
              </a:rPr>
              <a:t>Numerical Features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Average value in last 6 and 12 months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Minimum in last 6 months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Maximum in last 9 months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Sum over last 3 months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Value in a particular month                                                                </a:t>
            </a:r>
            <a:endParaRPr sz="1800">
              <a:solidFill>
                <a:srgbClr val="1F1F1F"/>
              </a:solidFill>
              <a:latin typeface="Calibri"/>
              <a:ea typeface="Calibri"/>
              <a:cs typeface="Calibri"/>
              <a:sym typeface="Calibri"/>
            </a:endParaRPr>
          </a:p>
        </p:txBody>
      </p:sp>
      <p:graphicFrame>
        <p:nvGraphicFramePr>
          <p:cNvPr id="318" name="Google Shape;318;p5"/>
          <p:cNvGraphicFramePr/>
          <p:nvPr/>
        </p:nvGraphicFramePr>
        <p:xfrm>
          <a:off x="241225" y="1554200"/>
          <a:ext cx="3000000" cy="3000000"/>
        </p:xfrm>
        <a:graphic>
          <a:graphicData uri="http://schemas.openxmlformats.org/drawingml/2006/table">
            <a:tbl>
              <a:tblPr>
                <a:noFill/>
                <a:tableStyleId>{9CE71C27-0CDF-4641-BA4E-4B8CD2B942D0}</a:tableStyleId>
              </a:tblPr>
              <a:tblGrid>
                <a:gridCol w="2601050"/>
                <a:gridCol w="2601050"/>
              </a:tblGrid>
              <a:tr h="381000">
                <a:tc>
                  <a:txBody>
                    <a:bodyPr/>
                    <a:lstStyle/>
                    <a:p>
                      <a:pPr indent="0" lvl="0" marL="0" rtl="0" algn="ctr">
                        <a:spcBef>
                          <a:spcPts val="0"/>
                        </a:spcBef>
                        <a:spcAft>
                          <a:spcPts val="0"/>
                        </a:spcAft>
                        <a:buNone/>
                      </a:pPr>
                      <a:r>
                        <a:rPr b="1" lang="en-US" sz="1600"/>
                        <a:t>Category</a:t>
                      </a:r>
                      <a:endParaRPr b="1" sz="1600"/>
                    </a:p>
                  </a:txBody>
                  <a:tcPr marT="91425" marB="91425" marR="91425" marL="91425"/>
                </a:tc>
                <a:tc>
                  <a:txBody>
                    <a:bodyPr/>
                    <a:lstStyle/>
                    <a:p>
                      <a:pPr indent="0" lvl="0" marL="0" rtl="0" algn="ctr">
                        <a:spcBef>
                          <a:spcPts val="0"/>
                        </a:spcBef>
                        <a:spcAft>
                          <a:spcPts val="0"/>
                        </a:spcAft>
                        <a:buNone/>
                      </a:pPr>
                      <a:r>
                        <a:rPr b="1" lang="en-US" sz="1600"/>
                        <a:t>No.</a:t>
                      </a:r>
                      <a:r>
                        <a:rPr b="1" lang="en-US" sz="1600"/>
                        <a:t> of Features</a:t>
                      </a:r>
                      <a:endParaRPr b="1" sz="1600"/>
                    </a:p>
                  </a:txBody>
                  <a:tcPr marT="91425" marB="91425" marR="91425" marL="91425"/>
                </a:tc>
              </a:tr>
              <a:tr h="412175">
                <a:tc>
                  <a:txBody>
                    <a:bodyPr/>
                    <a:lstStyle/>
                    <a:p>
                      <a:pPr indent="0" lvl="0" marL="0" rtl="0" algn="l">
                        <a:spcBef>
                          <a:spcPts val="0"/>
                        </a:spcBef>
                        <a:spcAft>
                          <a:spcPts val="0"/>
                        </a:spcAft>
                        <a:buNone/>
                      </a:pPr>
                      <a:r>
                        <a:rPr lang="en-US"/>
                        <a:t>Delinquency variables</a:t>
                      </a:r>
                      <a:endParaRPr/>
                    </a:p>
                  </a:txBody>
                  <a:tcPr marT="91425" marB="91425" marR="91425" marL="91425"/>
                </a:tc>
                <a:tc>
                  <a:txBody>
                    <a:bodyPr/>
                    <a:lstStyle/>
                    <a:p>
                      <a:pPr indent="0" lvl="0" marL="0" rtl="0" algn="l">
                        <a:spcBef>
                          <a:spcPts val="0"/>
                        </a:spcBef>
                        <a:spcAft>
                          <a:spcPts val="0"/>
                        </a:spcAft>
                        <a:buNone/>
                      </a:pPr>
                      <a:r>
                        <a:rPr lang="en-US"/>
                        <a:t>139</a:t>
                      </a:r>
                      <a:endParaRPr/>
                    </a:p>
                  </a:txBody>
                  <a:tcPr marT="91425" marB="91425" marR="91425" marL="91425"/>
                </a:tc>
              </a:tr>
              <a:tr h="381000">
                <a:tc>
                  <a:txBody>
                    <a:bodyPr/>
                    <a:lstStyle/>
                    <a:p>
                      <a:pPr indent="0" lvl="0" marL="0" rtl="0" algn="l">
                        <a:spcBef>
                          <a:spcPts val="0"/>
                        </a:spcBef>
                        <a:spcAft>
                          <a:spcPts val="0"/>
                        </a:spcAft>
                        <a:buNone/>
                      </a:pPr>
                      <a:r>
                        <a:rPr lang="en-US"/>
                        <a:t>Balance variables</a:t>
                      </a:r>
                      <a:endParaRPr/>
                    </a:p>
                  </a:txBody>
                  <a:tcPr marT="91425" marB="91425" marR="91425" marL="91425"/>
                </a:tc>
                <a:tc>
                  <a:txBody>
                    <a:bodyPr/>
                    <a:lstStyle/>
                    <a:p>
                      <a:pPr indent="0" lvl="0" marL="0" rtl="0" algn="l">
                        <a:spcBef>
                          <a:spcPts val="0"/>
                        </a:spcBef>
                        <a:spcAft>
                          <a:spcPts val="0"/>
                        </a:spcAft>
                        <a:buNone/>
                      </a:pPr>
                      <a:r>
                        <a:rPr lang="en-US"/>
                        <a:t>52</a:t>
                      </a:r>
                      <a:endParaRPr/>
                    </a:p>
                  </a:txBody>
                  <a:tcPr marT="91425" marB="91425" marR="91425" marL="91425"/>
                </a:tc>
              </a:tr>
              <a:tr h="381000">
                <a:tc>
                  <a:txBody>
                    <a:bodyPr/>
                    <a:lstStyle/>
                    <a:p>
                      <a:pPr indent="0" lvl="0" marL="0" rtl="0" algn="l">
                        <a:spcBef>
                          <a:spcPts val="0"/>
                        </a:spcBef>
                        <a:spcAft>
                          <a:spcPts val="0"/>
                        </a:spcAft>
                        <a:buNone/>
                      </a:pPr>
                      <a:r>
                        <a:rPr lang="en-US"/>
                        <a:t>Risk variables</a:t>
                      </a:r>
                      <a:endParaRPr/>
                    </a:p>
                  </a:txBody>
                  <a:tcPr marT="91425" marB="91425" marR="91425" marL="91425"/>
                </a:tc>
                <a:tc>
                  <a:txBody>
                    <a:bodyPr/>
                    <a:lstStyle/>
                    <a:p>
                      <a:pPr indent="0" lvl="0" marL="0" rtl="0" algn="l">
                        <a:spcBef>
                          <a:spcPts val="0"/>
                        </a:spcBef>
                        <a:spcAft>
                          <a:spcPts val="0"/>
                        </a:spcAft>
                        <a:buNone/>
                      </a:pPr>
                      <a:r>
                        <a:rPr lang="en-US"/>
                        <a:t>28</a:t>
                      </a:r>
                      <a:endParaRPr/>
                    </a:p>
                  </a:txBody>
                  <a:tcPr marT="91425" marB="91425" marR="91425" marL="91425"/>
                </a:tc>
              </a:tr>
              <a:tr h="381000">
                <a:tc>
                  <a:txBody>
                    <a:bodyPr/>
                    <a:lstStyle/>
                    <a:p>
                      <a:pPr indent="0" lvl="0" marL="0" rtl="0" algn="l">
                        <a:spcBef>
                          <a:spcPts val="0"/>
                        </a:spcBef>
                        <a:spcAft>
                          <a:spcPts val="0"/>
                        </a:spcAft>
                        <a:buNone/>
                      </a:pPr>
                      <a:r>
                        <a:rPr lang="en-US"/>
                        <a:t>Spend variables</a:t>
                      </a:r>
                      <a:endParaRPr/>
                    </a:p>
                  </a:txBody>
                  <a:tcPr marT="91425" marB="91425" marR="91425" marL="91425"/>
                </a:tc>
                <a:tc>
                  <a:txBody>
                    <a:bodyPr/>
                    <a:lstStyle/>
                    <a:p>
                      <a:pPr indent="0" lvl="0" marL="0" rtl="0" algn="l">
                        <a:spcBef>
                          <a:spcPts val="0"/>
                        </a:spcBef>
                        <a:spcAft>
                          <a:spcPts val="0"/>
                        </a:spcAft>
                        <a:buNone/>
                      </a:pPr>
                      <a:r>
                        <a:rPr lang="en-US"/>
                        <a:t>22</a:t>
                      </a:r>
                      <a:endParaRPr/>
                    </a:p>
                  </a:txBody>
                  <a:tcPr marT="91425" marB="91425" marR="91425" marL="91425"/>
                </a:tc>
              </a:tr>
              <a:tr h="381000">
                <a:tc>
                  <a:txBody>
                    <a:bodyPr/>
                    <a:lstStyle/>
                    <a:p>
                      <a:pPr indent="0" lvl="0" marL="0" rtl="0" algn="l">
                        <a:spcBef>
                          <a:spcPts val="0"/>
                        </a:spcBef>
                        <a:spcAft>
                          <a:spcPts val="0"/>
                        </a:spcAft>
                        <a:buNone/>
                      </a:pPr>
                      <a:r>
                        <a:rPr lang="en-US"/>
                        <a:t>Payment variables</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r>
            </a:tbl>
          </a:graphicData>
        </a:graphic>
      </p:graphicFrame>
      <p:graphicFrame>
        <p:nvGraphicFramePr>
          <p:cNvPr id="319" name="Google Shape;319;p5"/>
          <p:cNvGraphicFramePr/>
          <p:nvPr/>
        </p:nvGraphicFramePr>
        <p:xfrm>
          <a:off x="241225" y="4105475"/>
          <a:ext cx="3000000" cy="3000000"/>
        </p:xfrm>
        <a:graphic>
          <a:graphicData uri="http://schemas.openxmlformats.org/drawingml/2006/table">
            <a:tbl>
              <a:tblPr>
                <a:noFill/>
                <a:tableStyleId>{9CE71C27-0CDF-4641-BA4E-4B8CD2B942D0}</a:tableStyleId>
              </a:tblPr>
              <a:tblGrid>
                <a:gridCol w="1363475"/>
                <a:gridCol w="783975"/>
                <a:gridCol w="743625"/>
                <a:gridCol w="1414375"/>
                <a:gridCol w="1423200"/>
                <a:gridCol w="879225"/>
                <a:gridCol w="1548725"/>
                <a:gridCol w="1622675"/>
                <a:gridCol w="737425"/>
                <a:gridCol w="1288100"/>
              </a:tblGrid>
              <a:tr h="381000">
                <a:tc>
                  <a:txBody>
                    <a:bodyPr/>
                    <a:lstStyle/>
                    <a:p>
                      <a:pPr indent="0" lvl="0" marL="0" rtl="0" algn="l">
                        <a:spcBef>
                          <a:spcPts val="0"/>
                        </a:spcBef>
                        <a:spcAft>
                          <a:spcPts val="0"/>
                        </a:spcAft>
                        <a:buNone/>
                      </a:pPr>
                      <a:r>
                        <a:rPr lang="en-US"/>
                        <a:t>COLUMNS</a:t>
                      </a:r>
                      <a:endParaRPr/>
                    </a:p>
                  </a:txBody>
                  <a:tcPr marT="91425" marB="91425" marR="91425" marL="91425"/>
                </a:tc>
                <a:tc>
                  <a:txBody>
                    <a:bodyPr/>
                    <a:lstStyle/>
                    <a:p>
                      <a:pPr indent="0" lvl="0" marL="0" rtl="0" algn="l">
                        <a:spcBef>
                          <a:spcPts val="0"/>
                        </a:spcBef>
                        <a:spcAft>
                          <a:spcPts val="0"/>
                        </a:spcAft>
                        <a:buNone/>
                      </a:pPr>
                      <a:r>
                        <a:rPr lang="en-US"/>
                        <a:t>MEAN</a:t>
                      </a:r>
                      <a:endParaRPr/>
                    </a:p>
                  </a:txBody>
                  <a:tcPr marT="91425" marB="91425" marR="91425" marL="91425"/>
                </a:tc>
                <a:tc>
                  <a:txBody>
                    <a:bodyPr/>
                    <a:lstStyle/>
                    <a:p>
                      <a:pPr indent="0" lvl="0" marL="0" rtl="0" algn="l">
                        <a:spcBef>
                          <a:spcPts val="0"/>
                        </a:spcBef>
                        <a:spcAft>
                          <a:spcPts val="0"/>
                        </a:spcAft>
                        <a:buNone/>
                      </a:pPr>
                      <a:r>
                        <a:rPr lang="en-US"/>
                        <a:t>MIN</a:t>
                      </a:r>
                      <a:endParaRPr/>
                    </a:p>
                  </a:txBody>
                  <a:tcPr marT="91425" marB="91425" marR="91425" marL="91425"/>
                </a:tc>
                <a:tc>
                  <a:txBody>
                    <a:bodyPr/>
                    <a:lstStyle/>
                    <a:p>
                      <a:pPr indent="0" lvl="0" marL="0" rtl="0" algn="l">
                        <a:spcBef>
                          <a:spcPts val="0"/>
                        </a:spcBef>
                        <a:spcAft>
                          <a:spcPts val="0"/>
                        </a:spcAft>
                        <a:buNone/>
                      </a:pPr>
                      <a:r>
                        <a:rPr lang="en-US"/>
                        <a:t>1PERCENTILE</a:t>
                      </a:r>
                      <a:endParaRPr/>
                    </a:p>
                  </a:txBody>
                  <a:tcPr marT="91425" marB="91425" marR="91425" marL="91425"/>
                </a:tc>
                <a:tc>
                  <a:txBody>
                    <a:bodyPr/>
                    <a:lstStyle/>
                    <a:p>
                      <a:pPr indent="0" lvl="0" marL="0" rtl="0" algn="l">
                        <a:spcBef>
                          <a:spcPts val="0"/>
                        </a:spcBef>
                        <a:spcAft>
                          <a:spcPts val="0"/>
                        </a:spcAft>
                        <a:buNone/>
                      </a:pPr>
                      <a:r>
                        <a:rPr lang="en-US"/>
                        <a:t>5PERCENTILE</a:t>
                      </a:r>
                      <a:endParaRPr/>
                    </a:p>
                  </a:txBody>
                  <a:tcPr marT="91425" marB="91425" marR="91425" marL="91425"/>
                </a:tc>
                <a:tc>
                  <a:txBody>
                    <a:bodyPr/>
                    <a:lstStyle/>
                    <a:p>
                      <a:pPr indent="0" lvl="0" marL="0" rtl="0" algn="l">
                        <a:spcBef>
                          <a:spcPts val="0"/>
                        </a:spcBef>
                        <a:spcAft>
                          <a:spcPts val="0"/>
                        </a:spcAft>
                        <a:buNone/>
                      </a:pPr>
                      <a:r>
                        <a:rPr lang="en-US"/>
                        <a:t>MEDIAN</a:t>
                      </a:r>
                      <a:endParaRPr/>
                    </a:p>
                  </a:txBody>
                  <a:tcPr marT="91425" marB="91425" marR="91425" marL="91425"/>
                </a:tc>
                <a:tc>
                  <a:txBody>
                    <a:bodyPr/>
                    <a:lstStyle/>
                    <a:p>
                      <a:pPr indent="0" lvl="0" marL="0" rtl="0" algn="l">
                        <a:spcBef>
                          <a:spcPts val="0"/>
                        </a:spcBef>
                        <a:spcAft>
                          <a:spcPts val="0"/>
                        </a:spcAft>
                        <a:buNone/>
                      </a:pPr>
                      <a:r>
                        <a:rPr lang="en-US"/>
                        <a:t>95PERCENTILE</a:t>
                      </a:r>
                      <a:endParaRPr/>
                    </a:p>
                  </a:txBody>
                  <a:tcPr marT="91425" marB="91425" marR="91425" marL="91425"/>
                </a:tc>
                <a:tc>
                  <a:txBody>
                    <a:bodyPr/>
                    <a:lstStyle/>
                    <a:p>
                      <a:pPr indent="0" lvl="0" marL="0" rtl="0" algn="l">
                        <a:spcBef>
                          <a:spcPts val="0"/>
                        </a:spcBef>
                        <a:spcAft>
                          <a:spcPts val="0"/>
                        </a:spcAft>
                        <a:buNone/>
                      </a:pPr>
                      <a:r>
                        <a:rPr lang="en-US"/>
                        <a:t>99PERCENTILE</a:t>
                      </a:r>
                      <a:endParaRPr/>
                    </a:p>
                  </a:txBody>
                  <a:tcPr marT="91425" marB="91425" marR="91425" marL="91425"/>
                </a:tc>
                <a:tc>
                  <a:txBody>
                    <a:bodyPr/>
                    <a:lstStyle/>
                    <a:p>
                      <a:pPr indent="0" lvl="0" marL="0" rtl="0" algn="l">
                        <a:spcBef>
                          <a:spcPts val="0"/>
                        </a:spcBef>
                        <a:spcAft>
                          <a:spcPts val="0"/>
                        </a:spcAft>
                        <a:buNone/>
                      </a:pPr>
                      <a:r>
                        <a:rPr lang="en-US"/>
                        <a:t>MAX</a:t>
                      </a:r>
                      <a:endParaRPr/>
                    </a:p>
                  </a:txBody>
                  <a:tcPr marT="91425" marB="91425" marR="91425" marL="91425"/>
                </a:tc>
                <a:tc>
                  <a:txBody>
                    <a:bodyPr/>
                    <a:lstStyle/>
                    <a:p>
                      <a:pPr indent="0" lvl="0" marL="0" rtl="0" algn="l">
                        <a:spcBef>
                          <a:spcPts val="0"/>
                        </a:spcBef>
                        <a:spcAft>
                          <a:spcPts val="0"/>
                        </a:spcAft>
                        <a:buNone/>
                      </a:pPr>
                      <a:r>
                        <a:rPr lang="en-US"/>
                        <a:t>% MISSING</a:t>
                      </a:r>
                      <a:endParaRPr/>
                    </a:p>
                  </a:txBody>
                  <a:tcPr marT="91425" marB="91425" marR="91425" marL="91425"/>
                </a:tc>
              </a:tr>
              <a:tr h="381000">
                <a:tc>
                  <a:txBody>
                    <a:bodyPr/>
                    <a:lstStyle/>
                    <a:p>
                      <a:pPr indent="0" lvl="0" marL="0" rtl="0" algn="l">
                        <a:spcBef>
                          <a:spcPts val="0"/>
                        </a:spcBef>
                        <a:spcAft>
                          <a:spcPts val="0"/>
                        </a:spcAft>
                        <a:buNone/>
                      </a:pPr>
                      <a:r>
                        <a:rPr lang="en-US"/>
                        <a:t>P_2_Ave_1m</a:t>
                      </a:r>
                      <a:endParaRPr/>
                    </a:p>
                  </a:txBody>
                  <a:tcPr marT="91425" marB="91425" marR="91425" marL="91425"/>
                </a:tc>
                <a:tc>
                  <a:txBody>
                    <a:bodyPr/>
                    <a:lstStyle/>
                    <a:p>
                      <a:pPr indent="0" lvl="0" marL="0" rtl="0" algn="l">
                        <a:spcBef>
                          <a:spcPts val="0"/>
                        </a:spcBef>
                        <a:spcAft>
                          <a:spcPts val="0"/>
                        </a:spcAft>
                        <a:buNone/>
                      </a:pPr>
                      <a:r>
                        <a:rPr lang="en-US"/>
                        <a:t>0.632</a:t>
                      </a:r>
                      <a:endParaRPr/>
                    </a:p>
                  </a:txBody>
                  <a:tcPr marT="91425" marB="91425" marR="91425" marL="91425"/>
                </a:tc>
                <a:tc>
                  <a:txBody>
                    <a:bodyPr/>
                    <a:lstStyle/>
                    <a:p>
                      <a:pPr indent="0" lvl="0" marL="0" rtl="0" algn="l">
                        <a:spcBef>
                          <a:spcPts val="0"/>
                        </a:spcBef>
                        <a:spcAft>
                          <a:spcPts val="0"/>
                        </a:spcAft>
                        <a:buNone/>
                      </a:pPr>
                      <a:r>
                        <a:rPr lang="en-US"/>
                        <a:t>-0.335</a:t>
                      </a:r>
                      <a:endParaRPr/>
                    </a:p>
                  </a:txBody>
                  <a:tcPr marT="91425" marB="91425" marR="91425" marL="91425"/>
                </a:tc>
                <a:tc>
                  <a:txBody>
                    <a:bodyPr/>
                    <a:lstStyle/>
                    <a:p>
                      <a:pPr indent="0" lvl="0" marL="0" rtl="0" algn="l">
                        <a:spcBef>
                          <a:spcPts val="0"/>
                        </a:spcBef>
                        <a:spcAft>
                          <a:spcPts val="0"/>
                        </a:spcAft>
                        <a:buNone/>
                      </a:pPr>
                      <a:r>
                        <a:rPr lang="en-US"/>
                        <a:t>-0.085</a:t>
                      </a:r>
                      <a:endParaRPr/>
                    </a:p>
                  </a:txBody>
                  <a:tcPr marT="91425" marB="91425" marR="91425" marL="91425"/>
                </a:tc>
                <a:tc>
                  <a:txBody>
                    <a:bodyPr/>
                    <a:lstStyle/>
                    <a:p>
                      <a:pPr indent="0" lvl="0" marL="0" rtl="0" algn="l">
                        <a:spcBef>
                          <a:spcPts val="0"/>
                        </a:spcBef>
                        <a:spcAft>
                          <a:spcPts val="0"/>
                        </a:spcAft>
                        <a:buNone/>
                      </a:pPr>
                      <a:r>
                        <a:rPr lang="en-US"/>
                        <a:t>0.131</a:t>
                      </a:r>
                      <a:endParaRPr/>
                    </a:p>
                  </a:txBody>
                  <a:tcPr marT="91425" marB="91425" marR="91425" marL="91425"/>
                </a:tc>
                <a:tc>
                  <a:txBody>
                    <a:bodyPr/>
                    <a:lstStyle/>
                    <a:p>
                      <a:pPr indent="0" lvl="0" marL="0" rtl="0" algn="l">
                        <a:spcBef>
                          <a:spcPts val="0"/>
                        </a:spcBef>
                        <a:spcAft>
                          <a:spcPts val="0"/>
                        </a:spcAft>
                        <a:buNone/>
                      </a:pPr>
                      <a:r>
                        <a:rPr lang="en-US"/>
                        <a:t>0.679</a:t>
                      </a:r>
                      <a:endParaRPr/>
                    </a:p>
                  </a:txBody>
                  <a:tcPr marT="91425" marB="91425" marR="91425" marL="91425"/>
                </a:tc>
                <a:tc>
                  <a:txBody>
                    <a:bodyPr/>
                    <a:lstStyle/>
                    <a:p>
                      <a:pPr indent="0" lvl="0" marL="0" rtl="0" algn="l">
                        <a:spcBef>
                          <a:spcPts val="0"/>
                        </a:spcBef>
                        <a:spcAft>
                          <a:spcPts val="0"/>
                        </a:spcAft>
                        <a:buNone/>
                      </a:pPr>
                      <a:r>
                        <a:rPr lang="en-US"/>
                        <a:t>0.976</a:t>
                      </a:r>
                      <a:endParaRPr/>
                    </a:p>
                  </a:txBody>
                  <a:tcPr marT="91425" marB="91425" marR="91425" marL="91425"/>
                </a:tc>
                <a:tc>
                  <a:txBody>
                    <a:bodyPr/>
                    <a:lstStyle/>
                    <a:p>
                      <a:pPr indent="0" lvl="0" marL="0" rtl="0" algn="l">
                        <a:spcBef>
                          <a:spcPts val="0"/>
                        </a:spcBef>
                        <a:spcAft>
                          <a:spcPts val="0"/>
                        </a:spcAft>
                        <a:buNone/>
                      </a:pPr>
                      <a:r>
                        <a:rPr lang="en-US"/>
                        <a:t>1.006</a:t>
                      </a:r>
                      <a:endParaRPr/>
                    </a:p>
                  </a:txBody>
                  <a:tcPr marT="91425" marB="91425" marR="91425" marL="91425"/>
                </a:tc>
                <a:tc>
                  <a:txBody>
                    <a:bodyPr/>
                    <a:lstStyle/>
                    <a:p>
                      <a:pPr indent="0" lvl="0" marL="0" rtl="0" algn="l">
                        <a:spcBef>
                          <a:spcPts val="0"/>
                        </a:spcBef>
                        <a:spcAft>
                          <a:spcPts val="0"/>
                        </a:spcAft>
                        <a:buNone/>
                      </a:pPr>
                      <a:r>
                        <a:rPr lang="en-US"/>
                        <a:t>1.009</a:t>
                      </a:r>
                      <a:endParaRPr/>
                    </a:p>
                  </a:txBody>
                  <a:tcPr marT="91425" marB="91425" marR="91425" marL="91425"/>
                </a:tc>
                <a:tc>
                  <a:txBody>
                    <a:bodyPr/>
                    <a:lstStyle/>
                    <a:p>
                      <a:pPr indent="0" lvl="0" marL="0" rtl="0" algn="l">
                        <a:spcBef>
                          <a:spcPts val="0"/>
                        </a:spcBef>
                        <a:spcAft>
                          <a:spcPts val="0"/>
                        </a:spcAft>
                        <a:buNone/>
                      </a:pPr>
                      <a:r>
                        <a:rPr lang="en-US"/>
                        <a:t>0.733</a:t>
                      </a:r>
                      <a:endParaRPr/>
                    </a:p>
                  </a:txBody>
                  <a:tcPr marT="91425" marB="91425" marR="91425" marL="91425"/>
                </a:tc>
              </a:tr>
              <a:tr h="381000">
                <a:tc>
                  <a:txBody>
                    <a:bodyPr/>
                    <a:lstStyle/>
                    <a:p>
                      <a:pPr indent="0" lvl="0" marL="0" rtl="0" algn="l">
                        <a:spcBef>
                          <a:spcPts val="0"/>
                        </a:spcBef>
                        <a:spcAft>
                          <a:spcPts val="0"/>
                        </a:spcAft>
                        <a:buNone/>
                      </a:pPr>
                      <a:r>
                        <a:rPr lang="en-US"/>
                        <a:t>B_1_last</a:t>
                      </a:r>
                      <a:endParaRPr/>
                    </a:p>
                  </a:txBody>
                  <a:tcPr marT="91425" marB="91425" marR="91425" marL="91425"/>
                </a:tc>
                <a:tc>
                  <a:txBody>
                    <a:bodyPr/>
                    <a:lstStyle/>
                    <a:p>
                      <a:pPr indent="0" lvl="0" marL="0" rtl="0" algn="l">
                        <a:spcBef>
                          <a:spcPts val="0"/>
                        </a:spcBef>
                        <a:spcAft>
                          <a:spcPts val="0"/>
                        </a:spcAft>
                        <a:buNone/>
                      </a:pPr>
                      <a:r>
                        <a:rPr lang="en-US"/>
                        <a:t>0.138</a:t>
                      </a:r>
                      <a:endParaRPr/>
                    </a:p>
                  </a:txBody>
                  <a:tcPr marT="91425" marB="91425" marR="91425" marL="91425"/>
                </a:tc>
                <a:tc>
                  <a:txBody>
                    <a:bodyPr/>
                    <a:lstStyle/>
                    <a:p>
                      <a:pPr indent="0" lvl="0" marL="0" rtl="0" algn="l">
                        <a:spcBef>
                          <a:spcPts val="0"/>
                        </a:spcBef>
                        <a:spcAft>
                          <a:spcPts val="0"/>
                        </a:spcAft>
                        <a:buNone/>
                      </a:pPr>
                      <a:r>
                        <a:rPr lang="en-US"/>
                        <a:t>-0.107</a:t>
                      </a:r>
                      <a:endParaRPr/>
                    </a:p>
                  </a:txBody>
                  <a:tcPr marT="91425" marB="91425" marR="91425" marL="91425"/>
                </a:tc>
                <a:tc>
                  <a:txBody>
                    <a:bodyPr/>
                    <a:lstStyle/>
                    <a:p>
                      <a:pPr indent="0" lvl="0" marL="0" rtl="0" algn="l">
                        <a:spcBef>
                          <a:spcPts val="0"/>
                        </a:spcBef>
                        <a:spcAft>
                          <a:spcPts val="0"/>
                        </a:spcAft>
                        <a:buNone/>
                      </a:pPr>
                      <a:r>
                        <a:rPr lang="en-US"/>
                        <a:t>0.001</a:t>
                      </a:r>
                      <a:endParaRPr/>
                    </a:p>
                  </a:txBody>
                  <a:tcPr marT="91425" marB="91425" marR="91425" marL="91425"/>
                </a:tc>
                <a:tc>
                  <a:txBody>
                    <a:bodyPr/>
                    <a:lstStyle/>
                    <a:p>
                      <a:pPr indent="0" lvl="0" marL="0" rtl="0" algn="l">
                        <a:spcBef>
                          <a:spcPts val="0"/>
                        </a:spcBef>
                        <a:spcAft>
                          <a:spcPts val="0"/>
                        </a:spcAft>
                        <a:buNone/>
                      </a:pPr>
                      <a:r>
                        <a:rPr lang="en-US"/>
                        <a:t>0.002</a:t>
                      </a:r>
                      <a:endParaRPr/>
                    </a:p>
                  </a:txBody>
                  <a:tcPr marT="91425" marB="91425" marR="91425" marL="91425"/>
                </a:tc>
                <a:tc>
                  <a:txBody>
                    <a:bodyPr/>
                    <a:lstStyle/>
                    <a:p>
                      <a:pPr indent="0" lvl="0" marL="0" rtl="0" algn="l">
                        <a:spcBef>
                          <a:spcPts val="0"/>
                        </a:spcBef>
                        <a:spcAft>
                          <a:spcPts val="0"/>
                        </a:spcAft>
                        <a:buNone/>
                      </a:pPr>
                      <a:r>
                        <a:rPr lang="en-US"/>
                        <a:t>0.039</a:t>
                      </a:r>
                      <a:endParaRPr/>
                    </a:p>
                  </a:txBody>
                  <a:tcPr marT="91425" marB="91425" marR="91425" marL="91425"/>
                </a:tc>
                <a:tc>
                  <a:txBody>
                    <a:bodyPr/>
                    <a:lstStyle/>
                    <a:p>
                      <a:pPr indent="0" lvl="0" marL="0" rtl="0" algn="l">
                        <a:spcBef>
                          <a:spcPts val="0"/>
                        </a:spcBef>
                        <a:spcAft>
                          <a:spcPts val="0"/>
                        </a:spcAft>
                        <a:buNone/>
                      </a:pPr>
                      <a:r>
                        <a:rPr lang="en-US"/>
                        <a:t>0.668</a:t>
                      </a:r>
                      <a:endParaRPr/>
                    </a:p>
                  </a:txBody>
                  <a:tcPr marT="91425" marB="91425" marR="91425" marL="91425"/>
                </a:tc>
                <a:tc>
                  <a:txBody>
                    <a:bodyPr/>
                    <a:lstStyle/>
                    <a:p>
                      <a:pPr indent="0" lvl="0" marL="0" rtl="0" algn="l">
                        <a:spcBef>
                          <a:spcPts val="0"/>
                        </a:spcBef>
                        <a:spcAft>
                          <a:spcPts val="0"/>
                        </a:spcAft>
                        <a:buNone/>
                      </a:pPr>
                      <a:r>
                        <a:rPr lang="en-US"/>
                        <a:t>1.062</a:t>
                      </a:r>
                      <a:endParaRPr/>
                    </a:p>
                  </a:txBody>
                  <a:tcPr marT="91425" marB="91425" marR="91425" marL="91425"/>
                </a:tc>
                <a:tc>
                  <a:txBody>
                    <a:bodyPr/>
                    <a:lstStyle/>
                    <a:p>
                      <a:pPr indent="0" lvl="0" marL="0" rtl="0" algn="l">
                        <a:spcBef>
                          <a:spcPts val="0"/>
                        </a:spcBef>
                        <a:spcAft>
                          <a:spcPts val="0"/>
                        </a:spcAft>
                        <a:buNone/>
                      </a:pPr>
                      <a:r>
                        <a:rPr lang="en-US"/>
                        <a:t>1.324</a:t>
                      </a:r>
                      <a:endParaRPr/>
                    </a:p>
                  </a:txBody>
                  <a:tcPr marT="91425" marB="91425" marR="91425" marL="91425"/>
                </a:tc>
                <a:tc>
                  <a:txBody>
                    <a:bodyPr/>
                    <a:lstStyle/>
                    <a:p>
                      <a:pPr indent="0" lvl="0" marL="0" rtl="0" algn="l">
                        <a:spcBef>
                          <a:spcPts val="0"/>
                        </a:spcBef>
                        <a:spcAft>
                          <a:spcPts val="0"/>
                        </a:spcAft>
                        <a:buNone/>
                      </a:pPr>
                      <a:r>
                        <a:rPr lang="en-US"/>
                        <a:t>0.000</a:t>
                      </a:r>
                      <a:endParaRPr/>
                    </a:p>
                  </a:txBody>
                  <a:tcPr marT="91425" marB="91425" marR="91425" marL="91425"/>
                </a:tc>
              </a:tr>
              <a:tr h="381000">
                <a:tc>
                  <a:txBody>
                    <a:bodyPr/>
                    <a:lstStyle/>
                    <a:p>
                      <a:pPr indent="0" lvl="0" marL="0" rtl="0" algn="l">
                        <a:spcBef>
                          <a:spcPts val="0"/>
                        </a:spcBef>
                        <a:spcAft>
                          <a:spcPts val="0"/>
                        </a:spcAft>
                        <a:buNone/>
                      </a:pPr>
                      <a:r>
                        <a:rPr lang="en-US"/>
                        <a:t>D_42_min</a:t>
                      </a:r>
                      <a:endParaRPr/>
                    </a:p>
                  </a:txBody>
                  <a:tcPr marT="91425" marB="91425" marR="91425" marL="91425"/>
                </a:tc>
                <a:tc>
                  <a:txBody>
                    <a:bodyPr/>
                    <a:lstStyle/>
                    <a:p>
                      <a:pPr indent="0" lvl="0" marL="0" rtl="0" algn="l">
                        <a:spcBef>
                          <a:spcPts val="0"/>
                        </a:spcBef>
                        <a:spcAft>
                          <a:spcPts val="0"/>
                        </a:spcAft>
                        <a:buNone/>
                      </a:pPr>
                      <a:r>
                        <a:rPr lang="en-US"/>
                        <a:t>0.168</a:t>
                      </a:r>
                      <a:endParaRPr/>
                    </a:p>
                  </a:txBody>
                  <a:tcPr marT="91425" marB="91425" marR="91425" marL="91425"/>
                </a:tc>
                <a:tc>
                  <a:txBody>
                    <a:bodyPr/>
                    <a:lstStyle/>
                    <a:p>
                      <a:pPr indent="0" lvl="0" marL="0" rtl="0" algn="l">
                        <a:spcBef>
                          <a:spcPts val="0"/>
                        </a:spcBef>
                        <a:spcAft>
                          <a:spcPts val="0"/>
                        </a:spcAft>
                        <a:buNone/>
                      </a:pPr>
                      <a:r>
                        <a:rPr lang="en-US"/>
                        <a:t>-0.000</a:t>
                      </a:r>
                      <a:endParaRPr/>
                    </a:p>
                  </a:txBody>
                  <a:tcPr marT="91425" marB="91425" marR="91425" marL="91425"/>
                </a:tc>
                <a:tc>
                  <a:txBody>
                    <a:bodyPr/>
                    <a:lstStyle/>
                    <a:p>
                      <a:pPr indent="0" lvl="0" marL="0" rtl="0" algn="l">
                        <a:spcBef>
                          <a:spcPts val="0"/>
                        </a:spcBef>
                        <a:spcAft>
                          <a:spcPts val="0"/>
                        </a:spcAft>
                        <a:buNone/>
                      </a:pPr>
                      <a:r>
                        <a:rPr lang="en-US"/>
                        <a:t>0.001</a:t>
                      </a:r>
                      <a:endParaRPr/>
                    </a:p>
                  </a:txBody>
                  <a:tcPr marT="91425" marB="91425" marR="91425" marL="91425"/>
                </a:tc>
                <a:tc>
                  <a:txBody>
                    <a:bodyPr/>
                    <a:lstStyle/>
                    <a:p>
                      <a:pPr indent="0" lvl="0" marL="0" rtl="0" algn="l">
                        <a:spcBef>
                          <a:spcPts val="0"/>
                        </a:spcBef>
                        <a:spcAft>
                          <a:spcPts val="0"/>
                        </a:spcAft>
                        <a:buNone/>
                      </a:pPr>
                      <a:r>
                        <a:rPr lang="en-US"/>
                        <a:t>0.004</a:t>
                      </a:r>
                      <a:endParaRPr/>
                    </a:p>
                  </a:txBody>
                  <a:tcPr marT="91425" marB="91425" marR="91425" marL="91425"/>
                </a:tc>
                <a:tc>
                  <a:txBody>
                    <a:bodyPr/>
                    <a:lstStyle/>
                    <a:p>
                      <a:pPr indent="0" lvl="0" marL="0" rtl="0" algn="l">
                        <a:spcBef>
                          <a:spcPts val="0"/>
                        </a:spcBef>
                        <a:spcAft>
                          <a:spcPts val="0"/>
                        </a:spcAft>
                        <a:buNone/>
                      </a:pPr>
                      <a:r>
                        <a:rPr lang="en-US"/>
                        <a:t>0.103</a:t>
                      </a:r>
                      <a:endParaRPr/>
                    </a:p>
                  </a:txBody>
                  <a:tcPr marT="91425" marB="91425" marR="91425" marL="91425"/>
                </a:tc>
                <a:tc>
                  <a:txBody>
                    <a:bodyPr/>
                    <a:lstStyle/>
                    <a:p>
                      <a:pPr indent="0" lvl="0" marL="0" rtl="0" algn="l">
                        <a:spcBef>
                          <a:spcPts val="0"/>
                        </a:spcBef>
                        <a:spcAft>
                          <a:spcPts val="0"/>
                        </a:spcAft>
                        <a:buNone/>
                      </a:pPr>
                      <a:r>
                        <a:rPr lang="en-US"/>
                        <a:t>0.549</a:t>
                      </a:r>
                      <a:endParaRPr/>
                    </a:p>
                  </a:txBody>
                  <a:tcPr marT="91425" marB="91425" marR="91425" marL="91425"/>
                </a:tc>
                <a:tc>
                  <a:txBody>
                    <a:bodyPr/>
                    <a:lstStyle/>
                    <a:p>
                      <a:pPr indent="0" lvl="0" marL="0" rtl="0" algn="l">
                        <a:spcBef>
                          <a:spcPts val="0"/>
                        </a:spcBef>
                        <a:spcAft>
                          <a:spcPts val="0"/>
                        </a:spcAft>
                        <a:buNone/>
                      </a:pPr>
                      <a:r>
                        <a:rPr lang="en-US"/>
                        <a:t>0.952</a:t>
                      </a:r>
                      <a:endParaRPr/>
                    </a:p>
                  </a:txBody>
                  <a:tcPr marT="91425" marB="91425" marR="91425" marL="91425"/>
                </a:tc>
                <a:tc>
                  <a:txBody>
                    <a:bodyPr/>
                    <a:lstStyle/>
                    <a:p>
                      <a:pPr indent="0" lvl="0" marL="0" rtl="0" algn="l">
                        <a:spcBef>
                          <a:spcPts val="0"/>
                        </a:spcBef>
                        <a:spcAft>
                          <a:spcPts val="0"/>
                        </a:spcAft>
                        <a:buNone/>
                      </a:pPr>
                      <a:r>
                        <a:rPr lang="en-US"/>
                        <a:t>2.556</a:t>
                      </a:r>
                      <a:endParaRPr/>
                    </a:p>
                  </a:txBody>
                  <a:tcPr marT="91425" marB="91425" marR="91425" marL="91425"/>
                </a:tc>
                <a:tc>
                  <a:txBody>
                    <a:bodyPr/>
                    <a:lstStyle/>
                    <a:p>
                      <a:pPr indent="0" lvl="0" marL="0" rtl="0" algn="l">
                        <a:spcBef>
                          <a:spcPts val="0"/>
                        </a:spcBef>
                        <a:spcAft>
                          <a:spcPts val="0"/>
                        </a:spcAft>
                        <a:buNone/>
                      </a:pPr>
                      <a:r>
                        <a:rPr lang="en-US"/>
                        <a:t>75.487</a:t>
                      </a:r>
                      <a:endParaRPr/>
                    </a:p>
                  </a:txBody>
                  <a:tcPr marT="91425" marB="91425" marR="91425" marL="91425"/>
                </a:tc>
              </a:tr>
              <a:tr h="352000">
                <a:tc>
                  <a:txBody>
                    <a:bodyPr/>
                    <a:lstStyle/>
                    <a:p>
                      <a:pPr indent="0" lvl="0" marL="0" rtl="0" algn="l">
                        <a:spcBef>
                          <a:spcPts val="0"/>
                        </a:spcBef>
                        <a:spcAft>
                          <a:spcPts val="0"/>
                        </a:spcAft>
                        <a:buNone/>
                      </a:pPr>
                      <a:r>
                        <a:rPr lang="en-US"/>
                        <a:t>S_23_Ave_1m</a:t>
                      </a:r>
                      <a:endParaRPr/>
                    </a:p>
                  </a:txBody>
                  <a:tcPr marT="91425" marB="91425" marR="91425" marL="91425"/>
                </a:tc>
                <a:tc>
                  <a:txBody>
                    <a:bodyPr/>
                    <a:lstStyle/>
                    <a:p>
                      <a:pPr indent="0" lvl="0" marL="0" rtl="0" algn="l">
                        <a:spcBef>
                          <a:spcPts val="0"/>
                        </a:spcBef>
                        <a:spcAft>
                          <a:spcPts val="0"/>
                        </a:spcAft>
                        <a:buNone/>
                      </a:pPr>
                      <a:r>
                        <a:rPr lang="en-US"/>
                        <a:t>0.198</a:t>
                      </a:r>
                      <a:endParaRPr/>
                    </a:p>
                  </a:txBody>
                  <a:tcPr marT="91425" marB="91425" marR="91425" marL="91425"/>
                </a:tc>
                <a:tc>
                  <a:txBody>
                    <a:bodyPr/>
                    <a:lstStyle/>
                    <a:p>
                      <a:pPr indent="0" lvl="0" marL="0" rtl="0" algn="l">
                        <a:spcBef>
                          <a:spcPts val="0"/>
                        </a:spcBef>
                        <a:spcAft>
                          <a:spcPts val="0"/>
                        </a:spcAft>
                        <a:buNone/>
                      </a:pPr>
                      <a:r>
                        <a:rPr lang="en-US"/>
                        <a:t>-1.501</a:t>
                      </a:r>
                      <a:endParaRPr/>
                    </a:p>
                  </a:txBody>
                  <a:tcPr marT="91425" marB="91425" marR="91425" marL="91425"/>
                </a:tc>
                <a:tc>
                  <a:txBody>
                    <a:bodyPr/>
                    <a:lstStyle/>
                    <a:p>
                      <a:pPr indent="0" lvl="0" marL="0" rtl="0" algn="l">
                        <a:spcBef>
                          <a:spcPts val="0"/>
                        </a:spcBef>
                        <a:spcAft>
                          <a:spcPts val="0"/>
                        </a:spcAft>
                        <a:buNone/>
                      </a:pPr>
                      <a:r>
                        <a:rPr lang="en-US"/>
                        <a:t>-0.009</a:t>
                      </a:r>
                      <a:endParaRPr/>
                    </a:p>
                  </a:txBody>
                  <a:tcPr marT="91425" marB="91425" marR="91425" marL="91425"/>
                </a:tc>
                <a:tc>
                  <a:txBody>
                    <a:bodyPr/>
                    <a:lstStyle/>
                    <a:p>
                      <a:pPr indent="0" lvl="0" marL="0" rtl="0" algn="l">
                        <a:spcBef>
                          <a:spcPts val="0"/>
                        </a:spcBef>
                        <a:spcAft>
                          <a:spcPts val="0"/>
                        </a:spcAft>
                        <a:buNone/>
                      </a:pPr>
                      <a:r>
                        <a:rPr lang="en-US"/>
                        <a:t>0.131</a:t>
                      </a:r>
                      <a:endParaRPr/>
                    </a:p>
                  </a:txBody>
                  <a:tcPr marT="91425" marB="91425" marR="91425" marL="91425"/>
                </a:tc>
                <a:tc>
                  <a:txBody>
                    <a:bodyPr/>
                    <a:lstStyle/>
                    <a:p>
                      <a:pPr indent="0" lvl="0" marL="0" rtl="0" algn="l">
                        <a:spcBef>
                          <a:spcPts val="0"/>
                        </a:spcBef>
                        <a:spcAft>
                          <a:spcPts val="0"/>
                        </a:spcAft>
                        <a:buNone/>
                      </a:pPr>
                      <a:r>
                        <a:rPr lang="en-US"/>
                        <a:t>0.136</a:t>
                      </a:r>
                      <a:endParaRPr/>
                    </a:p>
                  </a:txBody>
                  <a:tcPr marT="91425" marB="91425" marR="91425" marL="91425"/>
                </a:tc>
                <a:tc>
                  <a:txBody>
                    <a:bodyPr/>
                    <a:lstStyle/>
                    <a:p>
                      <a:pPr indent="0" lvl="0" marL="0" rtl="0" algn="l">
                        <a:spcBef>
                          <a:spcPts val="0"/>
                        </a:spcBef>
                        <a:spcAft>
                          <a:spcPts val="0"/>
                        </a:spcAft>
                        <a:buNone/>
                      </a:pPr>
                      <a:r>
                        <a:rPr lang="en-US"/>
                        <a:t>0.684</a:t>
                      </a:r>
                      <a:endParaRPr/>
                    </a:p>
                  </a:txBody>
                  <a:tcPr marT="91425" marB="91425" marR="91425" marL="91425"/>
                </a:tc>
                <a:tc>
                  <a:txBody>
                    <a:bodyPr/>
                    <a:lstStyle/>
                    <a:p>
                      <a:pPr indent="0" lvl="0" marL="0" rtl="0" algn="l">
                        <a:spcBef>
                          <a:spcPts val="0"/>
                        </a:spcBef>
                        <a:spcAft>
                          <a:spcPts val="0"/>
                        </a:spcAft>
                        <a:buNone/>
                      </a:pPr>
                      <a:r>
                        <a:rPr lang="en-US"/>
                        <a:t>1.113</a:t>
                      </a:r>
                      <a:endParaRPr/>
                    </a:p>
                  </a:txBody>
                  <a:tcPr marT="91425" marB="91425" marR="91425" marL="91425"/>
                </a:tc>
                <a:tc>
                  <a:txBody>
                    <a:bodyPr/>
                    <a:lstStyle/>
                    <a:p>
                      <a:pPr indent="0" lvl="0" marL="0" rtl="0" algn="l">
                        <a:spcBef>
                          <a:spcPts val="0"/>
                        </a:spcBef>
                        <a:spcAft>
                          <a:spcPts val="0"/>
                        </a:spcAft>
                        <a:buNone/>
                      </a:pPr>
                      <a:r>
                        <a:rPr lang="en-US"/>
                        <a:t>12.335</a:t>
                      </a:r>
                      <a:endParaRPr/>
                    </a:p>
                  </a:txBody>
                  <a:tcPr marT="91425" marB="91425" marR="91425" marL="91425"/>
                </a:tc>
                <a:tc>
                  <a:txBody>
                    <a:bodyPr/>
                    <a:lstStyle/>
                    <a:p>
                      <a:pPr indent="0" lvl="0" marL="0" rtl="0" algn="l">
                        <a:spcBef>
                          <a:spcPts val="0"/>
                        </a:spcBef>
                        <a:spcAft>
                          <a:spcPts val="0"/>
                        </a:spcAft>
                        <a:buNone/>
                      </a:pPr>
                      <a:r>
                        <a:rPr lang="en-US"/>
                        <a:t>0.022</a:t>
                      </a:r>
                      <a:endParaRPr/>
                    </a:p>
                  </a:txBody>
                  <a:tcPr marT="91425" marB="91425" marR="91425" marL="91425"/>
                </a:tc>
              </a:tr>
              <a:tr h="381000">
                <a:tc>
                  <a:txBody>
                    <a:bodyPr/>
                    <a:lstStyle/>
                    <a:p>
                      <a:pPr indent="0" lvl="0" marL="0" rtl="0" algn="l">
                        <a:spcBef>
                          <a:spcPts val="0"/>
                        </a:spcBef>
                        <a:spcAft>
                          <a:spcPts val="0"/>
                        </a:spcAft>
                        <a:buNone/>
                      </a:pPr>
                      <a:r>
                        <a:rPr lang="en-US"/>
                        <a:t>B_18_sum </a:t>
                      </a:r>
                      <a:endParaRPr/>
                    </a:p>
                  </a:txBody>
                  <a:tcPr marT="91425" marB="91425" marR="91425" marL="91425"/>
                </a:tc>
                <a:tc>
                  <a:txBody>
                    <a:bodyPr/>
                    <a:lstStyle/>
                    <a:p>
                      <a:pPr indent="0" lvl="0" marL="0" rtl="0" algn="l">
                        <a:spcBef>
                          <a:spcPts val="0"/>
                        </a:spcBef>
                        <a:spcAft>
                          <a:spcPts val="0"/>
                        </a:spcAft>
                        <a:buNone/>
                      </a:pPr>
                      <a:r>
                        <a:rPr lang="en-US"/>
                        <a:t>7.196</a:t>
                      </a:r>
                      <a:endParaRPr/>
                    </a:p>
                  </a:txBody>
                  <a:tcPr marT="91425" marB="91425" marR="91425" marL="91425"/>
                </a:tc>
                <a:tc>
                  <a:txBody>
                    <a:bodyPr/>
                    <a:lstStyle/>
                    <a:p>
                      <a:pPr indent="0" lvl="0" marL="0" rtl="0" algn="l">
                        <a:spcBef>
                          <a:spcPts val="0"/>
                        </a:spcBef>
                        <a:spcAft>
                          <a:spcPts val="0"/>
                        </a:spcAft>
                        <a:buNone/>
                      </a:pPr>
                      <a:r>
                        <a:rPr lang="en-US"/>
                        <a:t>0.000</a:t>
                      </a:r>
                      <a:endParaRPr/>
                    </a:p>
                  </a:txBody>
                  <a:tcPr marT="91425" marB="91425" marR="91425" marL="91425"/>
                </a:tc>
                <a:tc>
                  <a:txBody>
                    <a:bodyPr/>
                    <a:lstStyle/>
                    <a:p>
                      <a:pPr indent="0" lvl="0" marL="0" rtl="0" algn="l">
                        <a:spcBef>
                          <a:spcPts val="0"/>
                        </a:spcBef>
                        <a:spcAft>
                          <a:spcPts val="0"/>
                        </a:spcAft>
                        <a:buNone/>
                      </a:pPr>
                      <a:r>
                        <a:rPr lang="en-US"/>
                        <a:t>0.065</a:t>
                      </a:r>
                      <a:endParaRPr/>
                    </a:p>
                  </a:txBody>
                  <a:tcPr marT="91425" marB="91425" marR="91425" marL="91425"/>
                </a:tc>
                <a:tc>
                  <a:txBody>
                    <a:bodyPr/>
                    <a:lstStyle/>
                    <a:p>
                      <a:pPr indent="0" lvl="0" marL="0" rtl="0" algn="l">
                        <a:spcBef>
                          <a:spcPts val="0"/>
                        </a:spcBef>
                        <a:spcAft>
                          <a:spcPts val="0"/>
                        </a:spcAft>
                        <a:buNone/>
                      </a:pPr>
                      <a:r>
                        <a:rPr lang="en-US"/>
                        <a:t>0.767</a:t>
                      </a:r>
                      <a:endParaRPr/>
                    </a:p>
                  </a:txBody>
                  <a:tcPr marT="91425" marB="91425" marR="91425" marL="91425"/>
                </a:tc>
                <a:tc>
                  <a:txBody>
                    <a:bodyPr/>
                    <a:lstStyle/>
                    <a:p>
                      <a:pPr indent="0" lvl="0" marL="0" rtl="0" algn="l">
                        <a:spcBef>
                          <a:spcPts val="0"/>
                        </a:spcBef>
                        <a:spcAft>
                          <a:spcPts val="0"/>
                        </a:spcAft>
                        <a:buNone/>
                      </a:pPr>
                      <a:r>
                        <a:rPr lang="en-US"/>
                        <a:t>7.071</a:t>
                      </a:r>
                      <a:endParaRPr/>
                    </a:p>
                  </a:txBody>
                  <a:tcPr marT="91425" marB="91425" marR="91425" marL="91425"/>
                </a:tc>
                <a:tc>
                  <a:txBody>
                    <a:bodyPr/>
                    <a:lstStyle/>
                    <a:p>
                      <a:pPr indent="0" lvl="0" marL="0" rtl="0" algn="l">
                        <a:spcBef>
                          <a:spcPts val="0"/>
                        </a:spcBef>
                        <a:spcAft>
                          <a:spcPts val="0"/>
                        </a:spcAft>
                        <a:buNone/>
                      </a:pPr>
                      <a:r>
                        <a:rPr lang="en-US"/>
                        <a:t>13.071</a:t>
                      </a:r>
                      <a:endParaRPr/>
                    </a:p>
                  </a:txBody>
                  <a:tcPr marT="91425" marB="91425" marR="91425" marL="91425"/>
                </a:tc>
                <a:tc>
                  <a:txBody>
                    <a:bodyPr/>
                    <a:lstStyle/>
                    <a:p>
                      <a:pPr indent="0" lvl="0" marL="0" rtl="0" algn="l">
                        <a:spcBef>
                          <a:spcPts val="0"/>
                        </a:spcBef>
                        <a:spcAft>
                          <a:spcPts val="0"/>
                        </a:spcAft>
                        <a:buNone/>
                      </a:pPr>
                      <a:r>
                        <a:rPr lang="en-US"/>
                        <a:t>13.082</a:t>
                      </a:r>
                      <a:endParaRPr/>
                    </a:p>
                  </a:txBody>
                  <a:tcPr marT="91425" marB="91425" marR="91425" marL="91425"/>
                </a:tc>
                <a:tc>
                  <a:txBody>
                    <a:bodyPr/>
                    <a:lstStyle/>
                    <a:p>
                      <a:pPr indent="0" lvl="0" marL="0" rtl="0" algn="l">
                        <a:spcBef>
                          <a:spcPts val="0"/>
                        </a:spcBef>
                        <a:spcAft>
                          <a:spcPts val="0"/>
                        </a:spcAft>
                        <a:buNone/>
                      </a:pPr>
                      <a:r>
                        <a:rPr lang="en-US"/>
                        <a:t>13.105</a:t>
                      </a:r>
                      <a:endParaRPr/>
                    </a:p>
                  </a:txBody>
                  <a:tcPr marT="91425" marB="91425" marR="91425" marL="91425"/>
                </a:tc>
                <a:tc>
                  <a:txBody>
                    <a:bodyPr/>
                    <a:lstStyle/>
                    <a:p>
                      <a:pPr indent="0" lvl="0" marL="0" rtl="0" algn="l">
                        <a:spcBef>
                          <a:spcPts val="0"/>
                        </a:spcBef>
                        <a:spcAft>
                          <a:spcPts val="0"/>
                        </a:spcAft>
                        <a:buNone/>
                      </a:pPr>
                      <a:r>
                        <a:rPr lang="en-US"/>
                        <a:t>0.000</a:t>
                      </a:r>
                      <a:endParaRPr/>
                    </a:p>
                  </a:txBody>
                  <a:tcPr marT="91425" marB="91425" marR="91425" marL="91425"/>
                </a:tc>
              </a:tr>
            </a:tbl>
          </a:graphicData>
        </a:graphic>
      </p:graphicFrame>
      <p:sp>
        <p:nvSpPr>
          <p:cNvPr id="320" name="Google Shape;320;p5"/>
          <p:cNvSpPr txBox="1"/>
          <p:nvPr/>
        </p:nvSpPr>
        <p:spPr>
          <a:xfrm>
            <a:off x="8945575" y="1554050"/>
            <a:ext cx="3033600" cy="24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F1F1F"/>
                </a:solidFill>
                <a:latin typeface="Calibri"/>
                <a:ea typeface="Calibri"/>
                <a:cs typeface="Calibri"/>
                <a:sym typeface="Calibri"/>
              </a:rPr>
              <a:t>Categorical Features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Response rate in last 6 months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Response at least once</a:t>
            </a:r>
            <a:endParaRPr sz="1800">
              <a:solidFill>
                <a:srgbClr val="1F1F1F"/>
              </a:solidFill>
              <a:latin typeface="Calibri"/>
              <a:ea typeface="Calibri"/>
              <a:cs typeface="Calibri"/>
              <a:sym typeface="Calibri"/>
            </a:endParaRPr>
          </a:p>
          <a:p>
            <a:pPr indent="0" lvl="0" marL="457200" rtl="0" algn="l">
              <a:spcBef>
                <a:spcPts val="0"/>
              </a:spcBef>
              <a:spcAft>
                <a:spcPts val="0"/>
              </a:spcAft>
              <a:buNone/>
            </a:pPr>
            <a:r>
              <a:rPr lang="en-US" sz="1800">
                <a:solidFill>
                  <a:srgbClr val="1F1F1F"/>
                </a:solidFill>
                <a:latin typeface="Calibri"/>
                <a:ea typeface="Calibri"/>
                <a:cs typeface="Calibri"/>
                <a:sym typeface="Calibri"/>
              </a:rPr>
              <a:t>in last 12 months</a:t>
            </a:r>
            <a:endParaRPr sz="1800">
              <a:solidFill>
                <a:srgbClr val="1F1F1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Data Processing – One Hot Encoding</a:t>
            </a:r>
            <a:endParaRPr/>
          </a:p>
        </p:txBody>
      </p:sp>
      <p:cxnSp>
        <p:nvCxnSpPr>
          <p:cNvPr id="326" name="Google Shape;326;p6"/>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327" name="Google Shape;327;p6"/>
          <p:cNvSpPr txBox="1"/>
          <p:nvPr/>
        </p:nvSpPr>
        <p:spPr>
          <a:xfrm>
            <a:off x="455775" y="2920075"/>
            <a:ext cx="6362700" cy="3603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Processed 11 categorical features using one-hot encoding by applying the get_dummies() function.</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Using discrete values from each category, 45 indicator features were created, each keeping the original categorized feature name.</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10 features that can also be utilized as features were also produced to explain existence of null values in columns.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Overall, a total of 55 features were created from the original 11 features.</a:t>
            </a:r>
            <a:endParaRPr sz="1800">
              <a:solidFill>
                <a:srgbClr val="1F1F1F"/>
              </a:solidFill>
              <a:latin typeface="Calibri"/>
              <a:ea typeface="Calibri"/>
              <a:cs typeface="Calibri"/>
              <a:sym typeface="Calibri"/>
            </a:endParaRPr>
          </a:p>
        </p:txBody>
      </p:sp>
      <p:pic>
        <p:nvPicPr>
          <p:cNvPr id="328" name="Google Shape;328;p6"/>
          <p:cNvPicPr preferRelativeResize="0"/>
          <p:nvPr/>
        </p:nvPicPr>
        <p:blipFill rotWithShape="1">
          <a:blip r:embed="rId3">
            <a:alphaModFix/>
          </a:blip>
          <a:srcRect b="0" l="0" r="0" t="0"/>
          <a:stretch/>
        </p:blipFill>
        <p:spPr>
          <a:xfrm>
            <a:off x="455775" y="1632688"/>
            <a:ext cx="6362700" cy="1142400"/>
          </a:xfrm>
          <a:prstGeom prst="rect">
            <a:avLst/>
          </a:prstGeom>
          <a:noFill/>
          <a:ln>
            <a:noFill/>
          </a:ln>
        </p:spPr>
      </p:pic>
      <p:graphicFrame>
        <p:nvGraphicFramePr>
          <p:cNvPr id="329" name="Google Shape;329;p6"/>
          <p:cNvGraphicFramePr/>
          <p:nvPr/>
        </p:nvGraphicFramePr>
        <p:xfrm>
          <a:off x="7187100" y="1632700"/>
          <a:ext cx="3000000" cy="3000000"/>
        </p:xfrm>
        <a:graphic>
          <a:graphicData uri="http://schemas.openxmlformats.org/drawingml/2006/table">
            <a:tbl>
              <a:tblPr>
                <a:noFill/>
                <a:tableStyleId>{9CE71C27-0CDF-4641-BA4E-4B8CD2B942D0}</a:tableStyleId>
              </a:tblPr>
              <a:tblGrid>
                <a:gridCol w="1176400"/>
                <a:gridCol w="3195000"/>
              </a:tblGrid>
              <a:tr h="381000">
                <a:tc>
                  <a:txBody>
                    <a:bodyPr/>
                    <a:lstStyle/>
                    <a:p>
                      <a:pPr indent="0" lvl="0" marL="0" rtl="0" algn="l">
                        <a:spcBef>
                          <a:spcPts val="0"/>
                        </a:spcBef>
                        <a:spcAft>
                          <a:spcPts val="0"/>
                        </a:spcAft>
                        <a:buNone/>
                      </a:pPr>
                      <a:r>
                        <a:rPr lang="en-US"/>
                        <a:t>Features</a:t>
                      </a:r>
                      <a:endParaRPr/>
                    </a:p>
                  </a:txBody>
                  <a:tcPr marT="91425" marB="91425" marR="91425" marL="91425"/>
                </a:tc>
                <a:tc>
                  <a:txBody>
                    <a:bodyPr/>
                    <a:lstStyle/>
                    <a:p>
                      <a:pPr indent="0" lvl="0" marL="0" rtl="0" algn="l">
                        <a:spcBef>
                          <a:spcPts val="0"/>
                        </a:spcBef>
                        <a:spcAft>
                          <a:spcPts val="0"/>
                        </a:spcAft>
                        <a:buNone/>
                      </a:pPr>
                      <a:r>
                        <a:rPr lang="en-US"/>
                        <a:t>n_uniques</a:t>
                      </a:r>
                      <a:endParaRPr/>
                    </a:p>
                  </a:txBody>
                  <a:tcPr marT="91425" marB="91425" marR="91425" marL="91425"/>
                </a:tc>
              </a:tr>
              <a:tr h="381000">
                <a:tc>
                  <a:txBody>
                    <a:bodyPr/>
                    <a:lstStyle/>
                    <a:p>
                      <a:pPr indent="0" lvl="0" marL="0" rtl="0" algn="l">
                        <a:spcBef>
                          <a:spcPts val="0"/>
                        </a:spcBef>
                        <a:spcAft>
                          <a:spcPts val="0"/>
                        </a:spcAft>
                        <a:buNone/>
                      </a:pPr>
                      <a:r>
                        <a:rPr lang="en-US"/>
                        <a:t>B_30</a:t>
                      </a:r>
                      <a:endParaRPr/>
                    </a:p>
                  </a:txBody>
                  <a:tcPr marT="91425" marB="91425" marR="91425" marL="91425"/>
                </a:tc>
                <a:tc>
                  <a:txBody>
                    <a:bodyPr/>
                    <a:lstStyle/>
                    <a:p>
                      <a:pPr indent="0" lvl="0" marL="0" rtl="0" algn="l">
                        <a:spcBef>
                          <a:spcPts val="0"/>
                        </a:spcBef>
                        <a:spcAft>
                          <a:spcPts val="0"/>
                        </a:spcAft>
                        <a:buNone/>
                      </a:pPr>
                      <a:r>
                        <a:rPr lang="en-US"/>
                        <a:t>[0.0, 2.0, 1.0, nan]</a:t>
                      </a:r>
                      <a:endParaRPr/>
                    </a:p>
                  </a:txBody>
                  <a:tcPr marT="91425" marB="91425" marR="91425" marL="91425"/>
                </a:tc>
              </a:tr>
              <a:tr h="381000">
                <a:tc>
                  <a:txBody>
                    <a:bodyPr/>
                    <a:lstStyle/>
                    <a:p>
                      <a:pPr indent="0" lvl="0" marL="0" rtl="0" algn="l">
                        <a:spcBef>
                          <a:spcPts val="0"/>
                        </a:spcBef>
                        <a:spcAft>
                          <a:spcPts val="0"/>
                        </a:spcAft>
                        <a:buNone/>
                      </a:pPr>
                      <a:r>
                        <a:rPr lang="en-US"/>
                        <a:t>B_38</a:t>
                      </a:r>
                      <a:endParaRPr/>
                    </a:p>
                  </a:txBody>
                  <a:tcPr marT="91425" marB="91425" marR="91425" marL="91425"/>
                </a:tc>
                <a:tc>
                  <a:txBody>
                    <a:bodyPr/>
                    <a:lstStyle/>
                    <a:p>
                      <a:pPr indent="0" lvl="0" marL="0" rtl="0" algn="l">
                        <a:spcBef>
                          <a:spcPts val="0"/>
                        </a:spcBef>
                        <a:spcAft>
                          <a:spcPts val="0"/>
                        </a:spcAft>
                        <a:buNone/>
                      </a:pPr>
                      <a:r>
                        <a:rPr lang="en-US"/>
                        <a:t>[2.0, 1.0, 5.0, 3.0, 7.0, 6.0, 4.0, nan]</a:t>
                      </a:r>
                      <a:endParaRPr/>
                    </a:p>
                  </a:txBody>
                  <a:tcPr marT="91425" marB="91425" marR="91425" marL="91425"/>
                </a:tc>
              </a:tr>
              <a:tr h="381000">
                <a:tc>
                  <a:txBody>
                    <a:bodyPr/>
                    <a:lstStyle/>
                    <a:p>
                      <a:pPr indent="0" lvl="0" marL="0" rtl="0" algn="l">
                        <a:spcBef>
                          <a:spcPts val="0"/>
                        </a:spcBef>
                        <a:spcAft>
                          <a:spcPts val="0"/>
                        </a:spcAft>
                        <a:buNone/>
                      </a:pPr>
                      <a:r>
                        <a:rPr lang="en-US"/>
                        <a:t>D_114</a:t>
                      </a:r>
                      <a:endParaRPr/>
                    </a:p>
                  </a:txBody>
                  <a:tcPr marT="91425" marB="91425" marR="91425" marL="91425"/>
                </a:tc>
                <a:tc>
                  <a:txBody>
                    <a:bodyPr/>
                    <a:lstStyle/>
                    <a:p>
                      <a:pPr indent="0" lvl="0" marL="0" rtl="0" algn="l">
                        <a:spcBef>
                          <a:spcPts val="0"/>
                        </a:spcBef>
                        <a:spcAft>
                          <a:spcPts val="0"/>
                        </a:spcAft>
                        <a:buNone/>
                      </a:pPr>
                      <a:r>
                        <a:rPr lang="en-US"/>
                        <a:t>[1.0, nan, 0.0]</a:t>
                      </a:r>
                      <a:endParaRPr/>
                    </a:p>
                  </a:txBody>
                  <a:tcPr marT="91425" marB="91425" marR="91425" marL="91425"/>
                </a:tc>
              </a:tr>
              <a:tr h="381000">
                <a:tc>
                  <a:txBody>
                    <a:bodyPr/>
                    <a:lstStyle/>
                    <a:p>
                      <a:pPr indent="0" lvl="0" marL="0" rtl="0" algn="l">
                        <a:spcBef>
                          <a:spcPts val="0"/>
                        </a:spcBef>
                        <a:spcAft>
                          <a:spcPts val="0"/>
                        </a:spcAft>
                        <a:buNone/>
                      </a:pPr>
                      <a:r>
                        <a:rPr lang="en-US"/>
                        <a:t>D_116</a:t>
                      </a:r>
                      <a:endParaRPr/>
                    </a:p>
                  </a:txBody>
                  <a:tcPr marT="91425" marB="91425" marR="91425" marL="91425"/>
                </a:tc>
                <a:tc>
                  <a:txBody>
                    <a:bodyPr/>
                    <a:lstStyle/>
                    <a:p>
                      <a:pPr indent="0" lvl="0" marL="0" rtl="0" algn="l">
                        <a:spcBef>
                          <a:spcPts val="0"/>
                        </a:spcBef>
                        <a:spcAft>
                          <a:spcPts val="0"/>
                        </a:spcAft>
                        <a:buNone/>
                      </a:pPr>
                      <a:r>
                        <a:rPr lang="en-US"/>
                        <a:t>[0.0, nan, 1.0]</a:t>
                      </a:r>
                      <a:endParaRPr/>
                    </a:p>
                  </a:txBody>
                  <a:tcPr marT="91425" marB="91425" marR="91425" marL="91425"/>
                </a:tc>
              </a:tr>
              <a:tr h="381000">
                <a:tc>
                  <a:txBody>
                    <a:bodyPr/>
                    <a:lstStyle/>
                    <a:p>
                      <a:pPr indent="0" lvl="0" marL="0" rtl="0" algn="l">
                        <a:spcBef>
                          <a:spcPts val="0"/>
                        </a:spcBef>
                        <a:spcAft>
                          <a:spcPts val="0"/>
                        </a:spcAft>
                        <a:buNone/>
                      </a:pPr>
                      <a:r>
                        <a:rPr lang="en-US"/>
                        <a:t>D_117</a:t>
                      </a:r>
                      <a:endParaRPr/>
                    </a:p>
                  </a:txBody>
                  <a:tcPr marT="91425" marB="91425" marR="91425" marL="91425"/>
                </a:tc>
                <a:tc>
                  <a:txBody>
                    <a:bodyPr/>
                    <a:lstStyle/>
                    <a:p>
                      <a:pPr indent="0" lvl="0" marL="0" rtl="0" algn="l">
                        <a:spcBef>
                          <a:spcPts val="0"/>
                        </a:spcBef>
                        <a:spcAft>
                          <a:spcPts val="0"/>
                        </a:spcAft>
                        <a:buNone/>
                      </a:pPr>
                      <a:r>
                        <a:rPr lang="en-US"/>
                        <a:t>[4.0, nan, 2.0, 3.0, 5.0, 6.0, -1.0, 1.0]</a:t>
                      </a:r>
                      <a:endParaRPr/>
                    </a:p>
                  </a:txBody>
                  <a:tcPr marT="91425" marB="91425" marR="91425" marL="91425"/>
                </a:tc>
              </a:tr>
              <a:tr h="381000">
                <a:tc>
                  <a:txBody>
                    <a:bodyPr/>
                    <a:lstStyle/>
                    <a:p>
                      <a:pPr indent="0" lvl="0" marL="0" rtl="0" algn="l">
                        <a:spcBef>
                          <a:spcPts val="0"/>
                        </a:spcBef>
                        <a:spcAft>
                          <a:spcPts val="0"/>
                        </a:spcAft>
                        <a:buNone/>
                      </a:pPr>
                      <a:r>
                        <a:rPr lang="en-US"/>
                        <a:t>D_120</a:t>
                      </a:r>
                      <a:endParaRPr/>
                    </a:p>
                  </a:txBody>
                  <a:tcPr marT="91425" marB="91425" marR="91425" marL="91425"/>
                </a:tc>
                <a:tc>
                  <a:txBody>
                    <a:bodyPr/>
                    <a:lstStyle/>
                    <a:p>
                      <a:pPr indent="0" lvl="0" marL="0" rtl="0" algn="l">
                        <a:spcBef>
                          <a:spcPts val="0"/>
                        </a:spcBef>
                        <a:spcAft>
                          <a:spcPts val="0"/>
                        </a:spcAft>
                        <a:buNone/>
                      </a:pPr>
                      <a:r>
                        <a:rPr lang="en-US"/>
                        <a:t>[0.0, nan, 1.0]</a:t>
                      </a:r>
                      <a:endParaRPr/>
                    </a:p>
                  </a:txBody>
                  <a:tcPr marT="91425" marB="91425" marR="91425" marL="91425"/>
                </a:tc>
              </a:tr>
              <a:tr h="381000">
                <a:tc>
                  <a:txBody>
                    <a:bodyPr/>
                    <a:lstStyle/>
                    <a:p>
                      <a:pPr indent="0" lvl="0" marL="0" rtl="0" algn="l">
                        <a:spcBef>
                          <a:spcPts val="0"/>
                        </a:spcBef>
                        <a:spcAft>
                          <a:spcPts val="0"/>
                        </a:spcAft>
                        <a:buNone/>
                      </a:pPr>
                      <a:r>
                        <a:rPr lang="en-US"/>
                        <a:t>D_126</a:t>
                      </a:r>
                      <a:endParaRPr/>
                    </a:p>
                  </a:txBody>
                  <a:tcPr marT="91425" marB="91425" marR="91425" marL="91425"/>
                </a:tc>
                <a:tc>
                  <a:txBody>
                    <a:bodyPr/>
                    <a:lstStyle/>
                    <a:p>
                      <a:pPr indent="0" lvl="0" marL="0" rtl="0" algn="l">
                        <a:spcBef>
                          <a:spcPts val="0"/>
                        </a:spcBef>
                        <a:spcAft>
                          <a:spcPts val="0"/>
                        </a:spcAft>
                        <a:buNone/>
                      </a:pPr>
                      <a:r>
                        <a:rPr lang="en-US"/>
                        <a:t>[1.0, nan, 0.0, -1.0]</a:t>
                      </a:r>
                      <a:endParaRPr/>
                    </a:p>
                  </a:txBody>
                  <a:tcPr marT="91425" marB="91425" marR="91425" marL="91425"/>
                </a:tc>
              </a:tr>
              <a:tr h="381000">
                <a:tc>
                  <a:txBody>
                    <a:bodyPr/>
                    <a:lstStyle/>
                    <a:p>
                      <a:pPr indent="0" lvl="0" marL="0" rtl="0" algn="l">
                        <a:spcBef>
                          <a:spcPts val="0"/>
                        </a:spcBef>
                        <a:spcAft>
                          <a:spcPts val="0"/>
                        </a:spcAft>
                        <a:buNone/>
                      </a:pPr>
                      <a:r>
                        <a:rPr lang="en-US"/>
                        <a:t>D_63</a:t>
                      </a:r>
                      <a:endParaRPr/>
                    </a:p>
                  </a:txBody>
                  <a:tcPr marT="91425" marB="91425" marR="91425" marL="91425"/>
                </a:tc>
                <a:tc>
                  <a:txBody>
                    <a:bodyPr/>
                    <a:lstStyle/>
                    <a:p>
                      <a:pPr indent="0" lvl="0" marL="0" rtl="0" algn="l">
                        <a:spcBef>
                          <a:spcPts val="0"/>
                        </a:spcBef>
                        <a:spcAft>
                          <a:spcPts val="0"/>
                        </a:spcAft>
                        <a:buNone/>
                      </a:pPr>
                      <a:r>
                        <a:rPr lang="en-US"/>
                        <a:t>[CR, CO, CL, XZ, XL, XM, nan]</a:t>
                      </a:r>
                      <a:endParaRPr/>
                    </a:p>
                  </a:txBody>
                  <a:tcPr marT="91425" marB="91425" marR="91425" marL="91425"/>
                </a:tc>
              </a:tr>
              <a:tr h="381000">
                <a:tc>
                  <a:txBody>
                    <a:bodyPr/>
                    <a:lstStyle/>
                    <a:p>
                      <a:pPr indent="0" lvl="0" marL="0" rtl="0" algn="l">
                        <a:spcBef>
                          <a:spcPts val="0"/>
                        </a:spcBef>
                        <a:spcAft>
                          <a:spcPts val="0"/>
                        </a:spcAft>
                        <a:buNone/>
                      </a:pPr>
                      <a:r>
                        <a:rPr lang="en-US"/>
                        <a:t>D_64</a:t>
                      </a:r>
                      <a:endParaRPr/>
                    </a:p>
                  </a:txBody>
                  <a:tcPr marT="91425" marB="91425" marR="91425" marL="91425"/>
                </a:tc>
                <a:tc>
                  <a:txBody>
                    <a:bodyPr/>
                    <a:lstStyle/>
                    <a:p>
                      <a:pPr indent="0" lvl="0" marL="0" rtl="0" algn="l">
                        <a:spcBef>
                          <a:spcPts val="0"/>
                        </a:spcBef>
                        <a:spcAft>
                          <a:spcPts val="0"/>
                        </a:spcAft>
                        <a:buNone/>
                      </a:pPr>
                      <a:r>
                        <a:rPr lang="en-US"/>
                        <a:t>[O, nan, R, U, -1]</a:t>
                      </a:r>
                      <a:endParaRPr/>
                    </a:p>
                  </a:txBody>
                  <a:tcPr marT="91425" marB="91425" marR="91425" marL="91425"/>
                </a:tc>
              </a:tr>
              <a:tr h="381000">
                <a:tc>
                  <a:txBody>
                    <a:bodyPr/>
                    <a:lstStyle/>
                    <a:p>
                      <a:pPr indent="0" lvl="0" marL="0" rtl="0" algn="l">
                        <a:spcBef>
                          <a:spcPts val="0"/>
                        </a:spcBef>
                        <a:spcAft>
                          <a:spcPts val="0"/>
                        </a:spcAft>
                        <a:buNone/>
                      </a:pPr>
                      <a:r>
                        <a:rPr lang="en-US"/>
                        <a:t>D_66</a:t>
                      </a:r>
                      <a:endParaRPr/>
                    </a:p>
                  </a:txBody>
                  <a:tcPr marT="91425" marB="91425" marR="91425" marL="91425"/>
                </a:tc>
                <a:tc>
                  <a:txBody>
                    <a:bodyPr/>
                    <a:lstStyle/>
                    <a:p>
                      <a:pPr indent="0" lvl="0" marL="0" rtl="0" algn="l">
                        <a:spcBef>
                          <a:spcPts val="0"/>
                        </a:spcBef>
                        <a:spcAft>
                          <a:spcPts val="0"/>
                        </a:spcAft>
                        <a:buNone/>
                      </a:pPr>
                      <a:r>
                        <a:rPr lang="en-US"/>
                        <a:t>[nan, 1.0, 0.0]</a:t>
                      </a:r>
                      <a:endParaRPr/>
                    </a:p>
                  </a:txBody>
                  <a:tcPr marT="91425" marB="91425" marR="91425" marL="91425"/>
                </a:tc>
              </a:tr>
              <a:tr h="381000">
                <a:tc>
                  <a:txBody>
                    <a:bodyPr/>
                    <a:lstStyle/>
                    <a:p>
                      <a:pPr indent="0" lvl="0" marL="0" rtl="0" algn="l">
                        <a:spcBef>
                          <a:spcPts val="0"/>
                        </a:spcBef>
                        <a:spcAft>
                          <a:spcPts val="0"/>
                        </a:spcAft>
                        <a:buNone/>
                      </a:pPr>
                      <a:r>
                        <a:rPr lang="en-US"/>
                        <a:t>D_68</a:t>
                      </a:r>
                      <a:endParaRPr/>
                    </a:p>
                  </a:txBody>
                  <a:tcPr marT="91425" marB="91425" marR="91425" marL="91425"/>
                </a:tc>
                <a:tc>
                  <a:txBody>
                    <a:bodyPr/>
                    <a:lstStyle/>
                    <a:p>
                      <a:pPr indent="0" lvl="0" marL="0" rtl="0" algn="l">
                        <a:spcBef>
                          <a:spcPts val="0"/>
                        </a:spcBef>
                        <a:spcAft>
                          <a:spcPts val="0"/>
                        </a:spcAft>
                        <a:buNone/>
                      </a:pPr>
                      <a:r>
                        <a:rPr lang="en-US"/>
                        <a:t>[6.0, nan, 2.0, 3.0, 4.0, 5.0, 1.0, 0.0]</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Feature Selection</a:t>
            </a:r>
            <a:endParaRPr/>
          </a:p>
        </p:txBody>
      </p:sp>
      <p:cxnSp>
        <p:nvCxnSpPr>
          <p:cNvPr id="335" name="Google Shape;335;p7"/>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336" name="Google Shape;336;p7"/>
          <p:cNvSpPr txBox="1"/>
          <p:nvPr/>
        </p:nvSpPr>
        <p:spPr>
          <a:xfrm>
            <a:off x="381000" y="1502825"/>
            <a:ext cx="11430000" cy="48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F1F1F"/>
                </a:solidFill>
                <a:latin typeface="Calibri"/>
                <a:ea typeface="Calibri"/>
                <a:cs typeface="Calibri"/>
                <a:sym typeface="Calibri"/>
              </a:rPr>
              <a:t>The features that were chosen have a feature importance greater than 0.5 percent. When making predictions, features with higher importance are considered more informative and are given more weight in making predictions. By concentrating on the most relevant data, this enhances the predictive model's efficiency and accuracy.</a:t>
            </a:r>
            <a:endParaRPr sz="1800">
              <a:solidFill>
                <a:srgbClr val="1F1F1F"/>
              </a:solidFill>
              <a:latin typeface="Calibri"/>
              <a:ea typeface="Calibri"/>
              <a:cs typeface="Calibri"/>
              <a:sym typeface="Calibri"/>
            </a:endParaRPr>
          </a:p>
        </p:txBody>
      </p:sp>
      <p:pic>
        <p:nvPicPr>
          <p:cNvPr id="337" name="Google Shape;337;p7"/>
          <p:cNvPicPr preferRelativeResize="0"/>
          <p:nvPr/>
        </p:nvPicPr>
        <p:blipFill>
          <a:blip r:embed="rId3">
            <a:alphaModFix/>
          </a:blip>
          <a:stretch>
            <a:fillRect/>
          </a:stretch>
        </p:blipFill>
        <p:spPr>
          <a:xfrm>
            <a:off x="257050" y="2559225"/>
            <a:ext cx="7294325" cy="3667675"/>
          </a:xfrm>
          <a:prstGeom prst="rect">
            <a:avLst/>
          </a:prstGeom>
          <a:noFill/>
          <a:ln>
            <a:noFill/>
          </a:ln>
        </p:spPr>
      </p:pic>
      <p:graphicFrame>
        <p:nvGraphicFramePr>
          <p:cNvPr id="338" name="Google Shape;338;p7"/>
          <p:cNvGraphicFramePr/>
          <p:nvPr/>
        </p:nvGraphicFramePr>
        <p:xfrm>
          <a:off x="7816550" y="2559225"/>
          <a:ext cx="3000000" cy="3000000"/>
        </p:xfrm>
        <a:graphic>
          <a:graphicData uri="http://schemas.openxmlformats.org/drawingml/2006/table">
            <a:tbl>
              <a:tblPr>
                <a:noFill/>
                <a:tableStyleId>{9CE71C27-0CDF-4641-BA4E-4B8CD2B942D0}</a:tableStyleId>
              </a:tblPr>
              <a:tblGrid>
                <a:gridCol w="1226525"/>
                <a:gridCol w="1057725"/>
                <a:gridCol w="1441075"/>
              </a:tblGrid>
              <a:tr h="762450">
                <a:tc>
                  <a:txBody>
                    <a:bodyPr/>
                    <a:lstStyle/>
                    <a:p>
                      <a:pPr indent="0" lvl="0" marL="0" rtl="0" algn="l">
                        <a:spcBef>
                          <a:spcPts val="0"/>
                        </a:spcBef>
                        <a:spcAft>
                          <a:spcPts val="0"/>
                        </a:spcAft>
                        <a:buNone/>
                      </a:pPr>
                      <a:r>
                        <a:rPr lang="en-US"/>
                        <a:t>Variable Types</a:t>
                      </a:r>
                      <a:endParaRPr/>
                    </a:p>
                  </a:txBody>
                  <a:tcPr marT="91425" marB="91425" marR="91425" marL="91425"/>
                </a:tc>
                <a:tc>
                  <a:txBody>
                    <a:bodyPr/>
                    <a:lstStyle/>
                    <a:p>
                      <a:pPr indent="0" lvl="0" marL="0" rtl="0" algn="l">
                        <a:spcBef>
                          <a:spcPts val="0"/>
                        </a:spcBef>
                        <a:spcAft>
                          <a:spcPts val="0"/>
                        </a:spcAft>
                        <a:buNone/>
                      </a:pPr>
                      <a:r>
                        <a:rPr lang="en-US"/>
                        <a:t>No of</a:t>
                      </a:r>
                      <a:endParaRPr/>
                    </a:p>
                    <a:p>
                      <a:pPr indent="0" lvl="0" marL="0" rtl="0" algn="l">
                        <a:spcBef>
                          <a:spcPts val="0"/>
                        </a:spcBef>
                        <a:spcAft>
                          <a:spcPts val="0"/>
                        </a:spcAft>
                        <a:buNone/>
                      </a:pPr>
                      <a:r>
                        <a:rPr lang="en-US"/>
                        <a:t>Features</a:t>
                      </a:r>
                      <a:endParaRPr/>
                    </a:p>
                  </a:txBody>
                  <a:tcPr marT="91425" marB="91425" marR="91425" marL="91425"/>
                </a:tc>
                <a:tc>
                  <a:txBody>
                    <a:bodyPr/>
                    <a:lstStyle/>
                    <a:p>
                      <a:pPr indent="0" lvl="0" marL="0" rtl="0" algn="l">
                        <a:spcBef>
                          <a:spcPts val="0"/>
                        </a:spcBef>
                        <a:spcAft>
                          <a:spcPts val="0"/>
                        </a:spcAft>
                        <a:buNone/>
                      </a:pPr>
                      <a:r>
                        <a:rPr lang="en-US"/>
                        <a:t>No of Selected Features</a:t>
                      </a:r>
                      <a:endParaRPr/>
                    </a:p>
                  </a:txBody>
                  <a:tcPr marT="91425" marB="91425" marR="91425" marL="91425"/>
                </a:tc>
              </a:tr>
              <a:tr h="542275">
                <a:tc>
                  <a:txBody>
                    <a:bodyPr/>
                    <a:lstStyle/>
                    <a:p>
                      <a:pPr indent="0" lvl="0" marL="0" rtl="0" algn="l">
                        <a:spcBef>
                          <a:spcPts val="0"/>
                        </a:spcBef>
                        <a:spcAft>
                          <a:spcPts val="0"/>
                        </a:spcAft>
                        <a:buNone/>
                      </a:pPr>
                      <a:r>
                        <a:rPr lang="en-US"/>
                        <a:t>Delinquency variables</a:t>
                      </a:r>
                      <a:endParaRPr/>
                    </a:p>
                  </a:txBody>
                  <a:tcPr marT="91425" marB="91425" marR="91425" marL="91425"/>
                </a:tc>
                <a:tc>
                  <a:txBody>
                    <a:bodyPr/>
                    <a:lstStyle/>
                    <a:p>
                      <a:pPr indent="0" lvl="0" marL="0" rtl="0" algn="l">
                        <a:spcBef>
                          <a:spcPts val="0"/>
                        </a:spcBef>
                        <a:spcAft>
                          <a:spcPts val="0"/>
                        </a:spcAft>
                        <a:buNone/>
                      </a:pPr>
                      <a:r>
                        <a:rPr lang="en-US"/>
                        <a:t>139</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r>
              <a:tr h="542275">
                <a:tc>
                  <a:txBody>
                    <a:bodyPr/>
                    <a:lstStyle/>
                    <a:p>
                      <a:pPr indent="0" lvl="0" marL="0" rtl="0" algn="l">
                        <a:spcBef>
                          <a:spcPts val="0"/>
                        </a:spcBef>
                        <a:spcAft>
                          <a:spcPts val="0"/>
                        </a:spcAft>
                        <a:buNone/>
                      </a:pPr>
                      <a:r>
                        <a:rPr lang="en-US"/>
                        <a:t>Balance variables</a:t>
                      </a:r>
                      <a:endParaRPr/>
                    </a:p>
                  </a:txBody>
                  <a:tcPr marT="91425" marB="91425" marR="91425" marL="91425"/>
                </a:tc>
                <a:tc>
                  <a:txBody>
                    <a:bodyPr/>
                    <a:lstStyle/>
                    <a:p>
                      <a:pPr indent="0" lvl="0" marL="0" rtl="0" algn="l">
                        <a:spcBef>
                          <a:spcPts val="0"/>
                        </a:spcBef>
                        <a:spcAft>
                          <a:spcPts val="0"/>
                        </a:spcAft>
                        <a:buNone/>
                      </a:pPr>
                      <a:r>
                        <a:rPr lang="en-US"/>
                        <a:t>52</a:t>
                      </a:r>
                      <a:endParaRPr/>
                    </a:p>
                  </a:txBody>
                  <a:tcPr marT="91425" marB="91425" marR="91425" marL="91425"/>
                </a:tc>
                <a:tc>
                  <a:txBody>
                    <a:bodyPr/>
                    <a:lstStyle/>
                    <a:p>
                      <a:pPr indent="0" lvl="0" marL="0" rtl="0" algn="l">
                        <a:spcBef>
                          <a:spcPts val="0"/>
                        </a:spcBef>
                        <a:spcAft>
                          <a:spcPts val="0"/>
                        </a:spcAft>
                        <a:buNone/>
                      </a:pPr>
                      <a:r>
                        <a:rPr lang="en-US"/>
                        <a:t>4</a:t>
                      </a:r>
                      <a:endParaRPr/>
                    </a:p>
                  </a:txBody>
                  <a:tcPr marT="91425" marB="91425" marR="91425" marL="91425"/>
                </a:tc>
              </a:tr>
              <a:tr h="542275">
                <a:tc>
                  <a:txBody>
                    <a:bodyPr/>
                    <a:lstStyle/>
                    <a:p>
                      <a:pPr indent="0" lvl="0" marL="0" rtl="0" algn="l">
                        <a:spcBef>
                          <a:spcPts val="0"/>
                        </a:spcBef>
                        <a:spcAft>
                          <a:spcPts val="0"/>
                        </a:spcAft>
                        <a:buNone/>
                      </a:pPr>
                      <a:r>
                        <a:rPr lang="en-US"/>
                        <a:t>Risk variables</a:t>
                      </a:r>
                      <a:endParaRPr/>
                    </a:p>
                  </a:txBody>
                  <a:tcPr marT="91425" marB="91425" marR="91425" marL="91425"/>
                </a:tc>
                <a:tc>
                  <a:txBody>
                    <a:bodyPr/>
                    <a:lstStyle/>
                    <a:p>
                      <a:pPr indent="0" lvl="0" marL="0" rtl="0" algn="l">
                        <a:spcBef>
                          <a:spcPts val="0"/>
                        </a:spcBef>
                        <a:spcAft>
                          <a:spcPts val="0"/>
                        </a:spcAft>
                        <a:buNone/>
                      </a:pPr>
                      <a:r>
                        <a:rPr lang="en-US"/>
                        <a:t>28</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r>
              <a:tr h="542275">
                <a:tc>
                  <a:txBody>
                    <a:bodyPr/>
                    <a:lstStyle/>
                    <a:p>
                      <a:pPr indent="0" lvl="0" marL="0" rtl="0" algn="l">
                        <a:spcBef>
                          <a:spcPts val="0"/>
                        </a:spcBef>
                        <a:spcAft>
                          <a:spcPts val="0"/>
                        </a:spcAft>
                        <a:buNone/>
                      </a:pPr>
                      <a:r>
                        <a:rPr lang="en-US"/>
                        <a:t>Spend variables</a:t>
                      </a:r>
                      <a:endParaRPr/>
                    </a:p>
                  </a:txBody>
                  <a:tcPr marT="91425" marB="91425" marR="91425" marL="91425"/>
                </a:tc>
                <a:tc>
                  <a:txBody>
                    <a:bodyPr/>
                    <a:lstStyle/>
                    <a:p>
                      <a:pPr indent="0" lvl="0" marL="0" rtl="0" algn="l">
                        <a:spcBef>
                          <a:spcPts val="0"/>
                        </a:spcBef>
                        <a:spcAft>
                          <a:spcPts val="0"/>
                        </a:spcAft>
                        <a:buNone/>
                      </a:pPr>
                      <a:r>
                        <a:rPr lang="en-US"/>
                        <a:t>22</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r>
              <a:tr h="542275">
                <a:tc>
                  <a:txBody>
                    <a:bodyPr/>
                    <a:lstStyle/>
                    <a:p>
                      <a:pPr indent="0" lvl="0" marL="0" rtl="0" algn="l">
                        <a:spcBef>
                          <a:spcPts val="0"/>
                        </a:spcBef>
                        <a:spcAft>
                          <a:spcPts val="0"/>
                        </a:spcAft>
                        <a:buNone/>
                      </a:pPr>
                      <a:r>
                        <a:rPr lang="en-US"/>
                        <a:t>Payment variables</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
          <p:cNvSpPr txBox="1"/>
          <p:nvPr>
            <p:ph type="title"/>
          </p:nvPr>
        </p:nvSpPr>
        <p:spPr>
          <a:xfrm>
            <a:off x="750275" y="1134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XGBoost - Grid Search </a:t>
            </a:r>
            <a:endParaRPr/>
          </a:p>
        </p:txBody>
      </p:sp>
      <p:cxnSp>
        <p:nvCxnSpPr>
          <p:cNvPr id="344" name="Google Shape;344;p8"/>
          <p:cNvCxnSpPr/>
          <p:nvPr/>
        </p:nvCxnSpPr>
        <p:spPr>
          <a:xfrm>
            <a:off x="920975" y="1138484"/>
            <a:ext cx="10382400" cy="0"/>
          </a:xfrm>
          <a:prstGeom prst="straightConnector1">
            <a:avLst/>
          </a:prstGeom>
          <a:noFill/>
          <a:ln cap="flat" cmpd="sng" w="25400">
            <a:solidFill>
              <a:srgbClr val="8DA9DB"/>
            </a:solidFill>
            <a:prstDash val="solid"/>
            <a:miter lim="800000"/>
            <a:headEnd len="sm" w="sm" type="none"/>
            <a:tailEnd len="sm" w="sm" type="none"/>
          </a:ln>
        </p:spPr>
      </p:cxnSp>
      <p:sp>
        <p:nvSpPr>
          <p:cNvPr id="345" name="Google Shape;345;p8"/>
          <p:cNvSpPr txBox="1"/>
          <p:nvPr/>
        </p:nvSpPr>
        <p:spPr>
          <a:xfrm>
            <a:off x="367850" y="1439025"/>
            <a:ext cx="6185400" cy="509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2"/>
                </a:solidFill>
                <a:latin typeface="Calibri"/>
                <a:ea typeface="Calibri"/>
                <a:cs typeface="Calibri"/>
                <a:sym typeface="Calibri"/>
              </a:rPr>
              <a:t>Reasons for employing custom parameters in the XGBoost model include: </a:t>
            </a:r>
            <a:endParaRPr sz="1800">
              <a:solidFill>
                <a:schemeClr val="dk2"/>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US" sz="1800">
                <a:solidFill>
                  <a:schemeClr val="dk2"/>
                </a:solidFill>
                <a:latin typeface="Calibri"/>
                <a:ea typeface="Calibri"/>
                <a:cs typeface="Calibri"/>
                <a:sym typeface="Calibri"/>
              </a:rPr>
              <a:t>Increasing the number of trees to 300 enables the model to capture more complex patterns in the data without requiring additional preprocessing.</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US" sz="1800">
                <a:solidFill>
                  <a:schemeClr val="dk2"/>
                </a:solidFill>
                <a:latin typeface="Calibri"/>
                <a:ea typeface="Calibri"/>
                <a:cs typeface="Calibri"/>
                <a:sym typeface="Calibri"/>
              </a:rPr>
              <a:t>Using a higher learning rate (0.5) helps small datasets by accelerating the model’s ability to learn new information more quickly.</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US" sz="1800">
                <a:solidFill>
                  <a:schemeClr val="dk2"/>
                </a:solidFill>
                <a:latin typeface="Calibri"/>
                <a:ea typeface="Calibri"/>
                <a:cs typeface="Calibri"/>
                <a:sym typeface="Calibri"/>
              </a:rPr>
              <a:t>Restricting the tree depth to 4 prevents overfitting and avoids excessively complex tree structures.</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US" sz="1800">
                <a:solidFill>
                  <a:schemeClr val="dk2"/>
                </a:solidFill>
                <a:latin typeface="Calibri"/>
                <a:ea typeface="Calibri"/>
                <a:cs typeface="Calibri"/>
                <a:sym typeface="Calibri"/>
              </a:rPr>
              <a:t>Applying a subsampling rate of 0.5 introduces randomness and diversity into training while reducing the risk of overfitting, especially when using a higher learning rate.</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US" sz="1800">
                <a:solidFill>
                  <a:schemeClr val="dk2"/>
                </a:solidFill>
                <a:latin typeface="Calibri"/>
                <a:ea typeface="Calibri"/>
                <a:cs typeface="Calibri"/>
                <a:sym typeface="Calibri"/>
              </a:rPr>
              <a:t>Incorporating sample weights addresses dataset imbalances, leading to a more stable and accurate model.</a:t>
            </a:r>
            <a:endParaRPr sz="1800">
              <a:solidFill>
                <a:schemeClr val="dk2"/>
              </a:solidFill>
              <a:latin typeface="Calibri"/>
              <a:ea typeface="Calibri"/>
              <a:cs typeface="Calibri"/>
              <a:sym typeface="Calibri"/>
            </a:endParaRPr>
          </a:p>
        </p:txBody>
      </p:sp>
      <p:pic>
        <p:nvPicPr>
          <p:cNvPr id="346" name="Google Shape;346;p8" title="Screenshot 2025-04-02 at 2.37.43 PM.png"/>
          <p:cNvPicPr preferRelativeResize="0"/>
          <p:nvPr/>
        </p:nvPicPr>
        <p:blipFill>
          <a:blip r:embed="rId3">
            <a:alphaModFix/>
          </a:blip>
          <a:stretch>
            <a:fillRect/>
          </a:stretch>
        </p:blipFill>
        <p:spPr>
          <a:xfrm>
            <a:off x="6735525" y="1217375"/>
            <a:ext cx="4902551" cy="54999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9"/>
          <p:cNvSpPr txBox="1"/>
          <p:nvPr>
            <p:ph type="title"/>
          </p:nvPr>
        </p:nvSpPr>
        <p:spPr>
          <a:xfrm>
            <a:off x="838200" y="2039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XGBoost - Grid Search </a:t>
            </a:r>
            <a:endParaRPr/>
          </a:p>
        </p:txBody>
      </p:sp>
      <p:cxnSp>
        <p:nvCxnSpPr>
          <p:cNvPr id="352" name="Google Shape;352;p9"/>
          <p:cNvCxnSpPr/>
          <p:nvPr/>
        </p:nvCxnSpPr>
        <p:spPr>
          <a:xfrm>
            <a:off x="904875" y="1211759"/>
            <a:ext cx="10382400" cy="0"/>
          </a:xfrm>
          <a:prstGeom prst="straightConnector1">
            <a:avLst/>
          </a:prstGeom>
          <a:noFill/>
          <a:ln cap="flat" cmpd="sng" w="25400">
            <a:solidFill>
              <a:srgbClr val="8DA9DB"/>
            </a:solidFill>
            <a:prstDash val="solid"/>
            <a:miter lim="800000"/>
            <a:headEnd len="sm" w="sm" type="none"/>
            <a:tailEnd len="sm" w="sm" type="none"/>
          </a:ln>
        </p:spPr>
      </p:cxnSp>
      <p:sp>
        <p:nvSpPr>
          <p:cNvPr id="353" name="Google Shape;353;p9"/>
          <p:cNvSpPr txBox="1"/>
          <p:nvPr/>
        </p:nvSpPr>
        <p:spPr>
          <a:xfrm>
            <a:off x="6145575" y="5281250"/>
            <a:ext cx="5701200" cy="118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F1F1F"/>
                </a:solidFill>
                <a:latin typeface="Calibri"/>
                <a:ea typeface="Calibri"/>
                <a:cs typeface="Calibri"/>
                <a:sym typeface="Calibri"/>
              </a:rPr>
              <a:t>The ideal model has a high AUC Test 2 and minimal overfitting, where AUC Train ≈ AUC Test 2. Red-circled points highlight potential models with strong test performance and minimal overfitting. </a:t>
            </a:r>
            <a:endParaRPr sz="1800">
              <a:solidFill>
                <a:srgbClr val="1F1F1F"/>
              </a:solidFill>
              <a:latin typeface="Calibri"/>
              <a:ea typeface="Calibri"/>
              <a:cs typeface="Calibri"/>
              <a:sym typeface="Calibri"/>
            </a:endParaRPr>
          </a:p>
        </p:txBody>
      </p:sp>
      <p:pic>
        <p:nvPicPr>
          <p:cNvPr id="354" name="Google Shape;354;p9"/>
          <p:cNvPicPr preferRelativeResize="0"/>
          <p:nvPr/>
        </p:nvPicPr>
        <p:blipFill>
          <a:blip r:embed="rId3">
            <a:alphaModFix/>
          </a:blip>
          <a:stretch>
            <a:fillRect/>
          </a:stretch>
        </p:blipFill>
        <p:spPr>
          <a:xfrm>
            <a:off x="904875" y="1330438"/>
            <a:ext cx="4781204" cy="3092926"/>
          </a:xfrm>
          <a:prstGeom prst="rect">
            <a:avLst/>
          </a:prstGeom>
          <a:noFill/>
          <a:ln>
            <a:noFill/>
          </a:ln>
        </p:spPr>
      </p:pic>
      <p:pic>
        <p:nvPicPr>
          <p:cNvPr id="355" name="Google Shape;355;p9"/>
          <p:cNvPicPr preferRelativeResize="0"/>
          <p:nvPr/>
        </p:nvPicPr>
        <p:blipFill>
          <a:blip r:embed="rId4">
            <a:alphaModFix/>
          </a:blip>
          <a:stretch>
            <a:fillRect/>
          </a:stretch>
        </p:blipFill>
        <p:spPr>
          <a:xfrm>
            <a:off x="6278104" y="1330450"/>
            <a:ext cx="4382779" cy="3092925"/>
          </a:xfrm>
          <a:prstGeom prst="rect">
            <a:avLst/>
          </a:prstGeom>
          <a:noFill/>
          <a:ln>
            <a:noFill/>
          </a:ln>
        </p:spPr>
      </p:pic>
      <p:pic>
        <p:nvPicPr>
          <p:cNvPr id="356" name="Google Shape;356;p9"/>
          <p:cNvPicPr preferRelativeResize="0"/>
          <p:nvPr/>
        </p:nvPicPr>
        <p:blipFill>
          <a:blip r:embed="rId5">
            <a:alphaModFix/>
          </a:blip>
          <a:stretch>
            <a:fillRect/>
          </a:stretch>
        </p:blipFill>
        <p:spPr>
          <a:xfrm>
            <a:off x="131400" y="4512725"/>
            <a:ext cx="5701201" cy="548725"/>
          </a:xfrm>
          <a:prstGeom prst="rect">
            <a:avLst/>
          </a:prstGeom>
          <a:noFill/>
          <a:ln>
            <a:noFill/>
          </a:ln>
        </p:spPr>
      </p:pic>
      <p:pic>
        <p:nvPicPr>
          <p:cNvPr id="357" name="Google Shape;357;p9"/>
          <p:cNvPicPr preferRelativeResize="0"/>
          <p:nvPr/>
        </p:nvPicPr>
        <p:blipFill>
          <a:blip r:embed="rId6">
            <a:alphaModFix/>
          </a:blip>
          <a:stretch>
            <a:fillRect/>
          </a:stretch>
        </p:blipFill>
        <p:spPr>
          <a:xfrm>
            <a:off x="6145575" y="4512725"/>
            <a:ext cx="5551125" cy="548725"/>
          </a:xfrm>
          <a:prstGeom prst="rect">
            <a:avLst/>
          </a:prstGeom>
          <a:noFill/>
          <a:ln>
            <a:noFill/>
          </a:ln>
        </p:spPr>
      </p:pic>
      <p:sp>
        <p:nvSpPr>
          <p:cNvPr id="358" name="Google Shape;358;p9"/>
          <p:cNvSpPr txBox="1"/>
          <p:nvPr/>
        </p:nvSpPr>
        <p:spPr>
          <a:xfrm>
            <a:off x="225975" y="5281250"/>
            <a:ext cx="5701200" cy="118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F1F1F"/>
                </a:solidFill>
                <a:latin typeface="Calibri"/>
                <a:ea typeface="Calibri"/>
                <a:cs typeface="Calibri"/>
                <a:sym typeface="Calibri"/>
              </a:rPr>
              <a:t>An ideal model would have low variance (standard deviation of AUC) while still having a high Average AUC. The red circle represents the model with a good balance between low variance and high AUC. </a:t>
            </a:r>
            <a:endParaRPr sz="1800">
              <a:solidFill>
                <a:srgbClr val="1F1F1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XGBoost – Final Model</a:t>
            </a:r>
            <a:endParaRPr/>
          </a:p>
        </p:txBody>
      </p:sp>
      <p:cxnSp>
        <p:nvCxnSpPr>
          <p:cNvPr id="364" name="Google Shape;364;p10"/>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365" name="Google Shape;365;p10"/>
          <p:cNvSpPr txBox="1"/>
          <p:nvPr/>
        </p:nvSpPr>
        <p:spPr>
          <a:xfrm>
            <a:off x="252825" y="1496600"/>
            <a:ext cx="11781600" cy="52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highlight>
                <a:srgbClr val="FFFF00"/>
              </a:highlight>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366" name="Google Shape;366;p10"/>
          <p:cNvPicPr preferRelativeResize="0"/>
          <p:nvPr/>
        </p:nvPicPr>
        <p:blipFill>
          <a:blip r:embed="rId3">
            <a:alphaModFix/>
          </a:blip>
          <a:stretch>
            <a:fillRect/>
          </a:stretch>
        </p:blipFill>
        <p:spPr>
          <a:xfrm>
            <a:off x="2106413" y="2379975"/>
            <a:ext cx="7979175" cy="3947375"/>
          </a:xfrm>
          <a:prstGeom prst="rect">
            <a:avLst/>
          </a:prstGeom>
          <a:noFill/>
          <a:ln>
            <a:noFill/>
          </a:ln>
        </p:spPr>
      </p:pic>
      <p:pic>
        <p:nvPicPr>
          <p:cNvPr id="367" name="Google Shape;367;p10"/>
          <p:cNvPicPr preferRelativeResize="0"/>
          <p:nvPr/>
        </p:nvPicPr>
        <p:blipFill>
          <a:blip r:embed="rId4">
            <a:alphaModFix/>
          </a:blip>
          <a:stretch>
            <a:fillRect/>
          </a:stretch>
        </p:blipFill>
        <p:spPr>
          <a:xfrm>
            <a:off x="1814500" y="1540150"/>
            <a:ext cx="8562975" cy="628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XGBoost – SHAP Analysis</a:t>
            </a:r>
            <a:endParaRPr/>
          </a:p>
        </p:txBody>
      </p:sp>
      <p:cxnSp>
        <p:nvCxnSpPr>
          <p:cNvPr id="373" name="Google Shape;373;p11"/>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374" name="Google Shape;374;p11"/>
          <p:cNvSpPr txBox="1"/>
          <p:nvPr/>
        </p:nvSpPr>
        <p:spPr>
          <a:xfrm>
            <a:off x="309225" y="1541600"/>
            <a:ext cx="6161700" cy="508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F1F1F"/>
                </a:solidFill>
                <a:latin typeface="Calibri"/>
                <a:ea typeface="Calibri"/>
                <a:cs typeface="Calibri"/>
                <a:sym typeface="Calibri"/>
              </a:rPr>
              <a:t>BEESWARM GRAPH</a:t>
            </a:r>
            <a:endParaRPr sz="1800">
              <a:solidFill>
                <a:srgbClr val="1F1F1F"/>
              </a:solidFill>
              <a:latin typeface="Calibri"/>
              <a:ea typeface="Calibri"/>
              <a:cs typeface="Calibri"/>
              <a:sym typeface="Calibri"/>
            </a:endParaRPr>
          </a:p>
          <a:p>
            <a:pPr indent="0" lvl="0" marL="0" rtl="0" algn="ctr">
              <a:spcBef>
                <a:spcPts val="0"/>
              </a:spcBef>
              <a:spcAft>
                <a:spcPts val="0"/>
              </a:spcAft>
              <a:buNone/>
            </a:pPr>
            <a:r>
              <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The top five features, in order, are P_2_Ave_1m, P_2_last, B_1_last, D_48_Ave_1m, and D_42_min.</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P_2_Ave_1m and P_2_last is </a:t>
            </a:r>
            <a:r>
              <a:rPr lang="en-US" sz="1800">
                <a:solidFill>
                  <a:srgbClr val="1F1F1F"/>
                </a:solidFill>
                <a:latin typeface="Calibri"/>
                <a:ea typeface="Calibri"/>
                <a:cs typeface="Calibri"/>
                <a:sym typeface="Calibri"/>
              </a:rPr>
              <a:t>negatively impacted since negative SHAP values are more frequently linked to greater feature values.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A range of consequences is indicated by </a:t>
            </a:r>
            <a:r>
              <a:rPr lang="en-US" sz="1800">
                <a:solidFill>
                  <a:srgbClr val="1F1F1F"/>
                </a:solidFill>
                <a:latin typeface="Calibri"/>
                <a:ea typeface="Calibri"/>
                <a:cs typeface="Calibri"/>
                <a:sym typeface="Calibri"/>
              </a:rPr>
              <a:t>B_1_last</a:t>
            </a:r>
            <a:r>
              <a:rPr lang="en-US" sz="1800">
                <a:solidFill>
                  <a:srgbClr val="1F1F1F"/>
                </a:solidFill>
                <a:latin typeface="Calibri"/>
                <a:ea typeface="Calibri"/>
                <a:cs typeface="Calibri"/>
                <a:sym typeface="Calibri"/>
              </a:rPr>
              <a:t>, which shows both positive and negative affects.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Because positive SHAP values are more closely linked to larger feature values, </a:t>
            </a:r>
            <a:r>
              <a:rPr lang="en-US" sz="1800">
                <a:solidFill>
                  <a:srgbClr val="1F1F1F"/>
                </a:solidFill>
                <a:latin typeface="Calibri"/>
                <a:ea typeface="Calibri"/>
                <a:cs typeface="Calibri"/>
                <a:sym typeface="Calibri"/>
              </a:rPr>
              <a:t>D_48_Ave_1m </a:t>
            </a:r>
            <a:r>
              <a:rPr lang="en-US" sz="1800">
                <a:solidFill>
                  <a:srgbClr val="1F1F1F"/>
                </a:solidFill>
                <a:latin typeface="Calibri"/>
                <a:ea typeface="Calibri"/>
                <a:cs typeface="Calibri"/>
                <a:sym typeface="Calibri"/>
              </a:rPr>
              <a:t>and </a:t>
            </a:r>
            <a:r>
              <a:rPr lang="en-US" sz="1800">
                <a:solidFill>
                  <a:srgbClr val="1F1F1F"/>
                </a:solidFill>
                <a:latin typeface="Calibri"/>
                <a:ea typeface="Calibri"/>
                <a:cs typeface="Calibri"/>
                <a:sym typeface="Calibri"/>
              </a:rPr>
              <a:t>D_42_min </a:t>
            </a:r>
            <a:r>
              <a:rPr lang="en-US" sz="1800">
                <a:solidFill>
                  <a:srgbClr val="1F1F1F"/>
                </a:solidFill>
                <a:latin typeface="Calibri"/>
                <a:ea typeface="Calibri"/>
                <a:cs typeface="Calibri"/>
                <a:sym typeface="Calibri"/>
              </a:rPr>
              <a:t>regularly exhibit favourable impacts.</a:t>
            </a:r>
            <a:endParaRPr sz="1800">
              <a:solidFill>
                <a:srgbClr val="1F1F1F"/>
              </a:solidFill>
              <a:latin typeface="Calibri"/>
              <a:ea typeface="Calibri"/>
              <a:cs typeface="Calibri"/>
              <a:sym typeface="Calibri"/>
            </a:endParaRPr>
          </a:p>
        </p:txBody>
      </p:sp>
      <p:pic>
        <p:nvPicPr>
          <p:cNvPr id="375" name="Google Shape;375;p11"/>
          <p:cNvPicPr preferRelativeResize="0"/>
          <p:nvPr/>
        </p:nvPicPr>
        <p:blipFill>
          <a:blip r:embed="rId3">
            <a:alphaModFix/>
          </a:blip>
          <a:stretch>
            <a:fillRect/>
          </a:stretch>
        </p:blipFill>
        <p:spPr>
          <a:xfrm>
            <a:off x="6470958" y="1455675"/>
            <a:ext cx="5438242" cy="5170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XGBoost – SHAP Analysis</a:t>
            </a:r>
            <a:endParaRPr/>
          </a:p>
        </p:txBody>
      </p:sp>
      <p:cxnSp>
        <p:nvCxnSpPr>
          <p:cNvPr id="381" name="Google Shape;381;p12"/>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382" name="Google Shape;382;p12"/>
          <p:cNvSpPr txBox="1"/>
          <p:nvPr/>
        </p:nvSpPr>
        <p:spPr>
          <a:xfrm>
            <a:off x="337050" y="1453700"/>
            <a:ext cx="5847600" cy="517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latin typeface="Calibri"/>
                <a:ea typeface="Calibri"/>
                <a:cs typeface="Calibri"/>
                <a:sym typeface="Calibri"/>
              </a:rPr>
              <a:t>Interpretation of the Waterfall Chart:</a:t>
            </a:r>
            <a:endParaRPr sz="1800">
              <a:latin typeface="Calibri"/>
              <a:ea typeface="Calibri"/>
              <a:cs typeface="Calibri"/>
              <a:sym typeface="Calibri"/>
            </a:endParaRPr>
          </a:p>
          <a:p>
            <a:pPr indent="0" lvl="0" marL="0" rtl="0" algn="l">
              <a:spcBef>
                <a:spcPts val="0"/>
              </a:spcBef>
              <a:spcAft>
                <a:spcPts val="0"/>
              </a:spcAft>
              <a:buNone/>
            </a:pPr>
            <a:r>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The top 5 features, in order, are B_1_last, B_2_sum, P_2_last, R_1_last, and B_2_last, showing a shift from the global feature importance ranking.</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B_1_last</a:t>
            </a:r>
            <a:r>
              <a:rPr lang="en-US" sz="1800">
                <a:latin typeface="Calibri"/>
                <a:ea typeface="Calibri"/>
                <a:cs typeface="Calibri"/>
                <a:sym typeface="Calibri"/>
              </a:rPr>
              <a:t>, </a:t>
            </a:r>
            <a:r>
              <a:rPr lang="en-US" sz="1800">
                <a:latin typeface="Calibri"/>
                <a:ea typeface="Calibri"/>
                <a:cs typeface="Calibri"/>
                <a:sym typeface="Calibri"/>
              </a:rPr>
              <a:t>B_2_sum</a:t>
            </a:r>
            <a:r>
              <a:rPr lang="en-US" sz="1800">
                <a:latin typeface="Calibri"/>
                <a:ea typeface="Calibri"/>
                <a:cs typeface="Calibri"/>
                <a:sym typeface="Calibri"/>
              </a:rPr>
              <a:t>, and </a:t>
            </a:r>
            <a:r>
              <a:rPr lang="en-US" sz="1800">
                <a:latin typeface="Calibri"/>
                <a:ea typeface="Calibri"/>
                <a:cs typeface="Calibri"/>
                <a:sym typeface="Calibri"/>
              </a:rPr>
              <a:t>B_2_last </a:t>
            </a:r>
            <a:r>
              <a:rPr lang="en-US" sz="1800">
                <a:latin typeface="Calibri"/>
                <a:ea typeface="Calibri"/>
                <a:cs typeface="Calibri"/>
                <a:sym typeface="Calibri"/>
              </a:rPr>
              <a:t>are negatively impacting the model.</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P_2_last </a:t>
            </a:r>
            <a:r>
              <a:rPr lang="en-US" sz="1800">
                <a:latin typeface="Calibri"/>
                <a:ea typeface="Calibri"/>
                <a:cs typeface="Calibri"/>
                <a:sym typeface="Calibri"/>
              </a:rPr>
              <a:t>and </a:t>
            </a:r>
            <a:r>
              <a:rPr lang="en-US" sz="1800">
                <a:latin typeface="Calibri"/>
                <a:ea typeface="Calibri"/>
                <a:cs typeface="Calibri"/>
                <a:sym typeface="Calibri"/>
              </a:rPr>
              <a:t>R_1_last </a:t>
            </a:r>
            <a:r>
              <a:rPr lang="en-US" sz="1800">
                <a:latin typeface="Calibri"/>
                <a:ea typeface="Calibri"/>
                <a:cs typeface="Calibri"/>
                <a:sym typeface="Calibri"/>
              </a:rPr>
              <a:t>are contributing positively to the model.</a:t>
            </a:r>
            <a:endParaRPr sz="1800">
              <a:latin typeface="Calibri"/>
              <a:ea typeface="Calibri"/>
              <a:cs typeface="Calibri"/>
              <a:sym typeface="Calibri"/>
            </a:endParaRPr>
          </a:p>
          <a:p>
            <a:pPr indent="0" lvl="0" marL="0" rtl="0" algn="l">
              <a:spcBef>
                <a:spcPts val="0"/>
              </a:spcBef>
              <a:spcAft>
                <a:spcPts val="0"/>
              </a:spcAft>
              <a:buNone/>
            </a:pPr>
            <a:r>
              <a:t/>
            </a:r>
            <a:endParaRPr sz="1800">
              <a:latin typeface="Calibri"/>
              <a:ea typeface="Calibri"/>
              <a:cs typeface="Calibri"/>
              <a:sym typeface="Calibri"/>
            </a:endParaRPr>
          </a:p>
          <a:p>
            <a:pPr indent="0" lvl="0" marL="0" rtl="0" algn="l">
              <a:spcBef>
                <a:spcPts val="0"/>
              </a:spcBef>
              <a:spcAft>
                <a:spcPts val="0"/>
              </a:spcAft>
              <a:buNone/>
            </a:pPr>
            <a:r>
              <a:rPr lang="en-US" sz="1800">
                <a:latin typeface="Calibri"/>
                <a:ea typeface="Calibri"/>
                <a:cs typeface="Calibri"/>
                <a:sym typeface="Calibri"/>
              </a:rPr>
              <a:t>Strategies for Improving the Score:</a:t>
            </a:r>
            <a:endParaRPr sz="1800">
              <a:latin typeface="Calibri"/>
              <a:ea typeface="Calibri"/>
              <a:cs typeface="Calibri"/>
              <a:sym typeface="Calibri"/>
            </a:endParaRPr>
          </a:p>
          <a:p>
            <a:pPr indent="0" lvl="0" marL="0" rtl="0" algn="l">
              <a:spcBef>
                <a:spcPts val="0"/>
              </a:spcBef>
              <a:spcAft>
                <a:spcPts val="0"/>
              </a:spcAft>
              <a:buNone/>
            </a:pPr>
            <a:r>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Focus on selecting features that have a significant impact on the target variable, while discarding irrelevant or redundant ones to minimize noise.</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Optimize the hyperparameters of the machine learning model.</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Continuously iterate on the model-building process to make incremental improvements.</a:t>
            </a:r>
            <a:endParaRPr sz="1800">
              <a:latin typeface="Calibri"/>
              <a:ea typeface="Calibri"/>
              <a:cs typeface="Calibri"/>
              <a:sym typeface="Calibri"/>
            </a:endParaRPr>
          </a:p>
        </p:txBody>
      </p:sp>
      <p:pic>
        <p:nvPicPr>
          <p:cNvPr id="383" name="Google Shape;383;p12"/>
          <p:cNvPicPr preferRelativeResize="0"/>
          <p:nvPr/>
        </p:nvPicPr>
        <p:blipFill>
          <a:blip r:embed="rId3">
            <a:alphaModFix/>
          </a:blip>
          <a:stretch>
            <a:fillRect/>
          </a:stretch>
        </p:blipFill>
        <p:spPr>
          <a:xfrm>
            <a:off x="6184550" y="1453700"/>
            <a:ext cx="5756251" cy="5029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Neural Network – Data Processing</a:t>
            </a:r>
            <a:endParaRPr/>
          </a:p>
        </p:txBody>
      </p:sp>
      <p:cxnSp>
        <p:nvCxnSpPr>
          <p:cNvPr id="389" name="Google Shape;389;p13"/>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390" name="Google Shape;390;p13"/>
          <p:cNvSpPr txBox="1"/>
          <p:nvPr/>
        </p:nvSpPr>
        <p:spPr>
          <a:xfrm>
            <a:off x="3429450" y="4139275"/>
            <a:ext cx="3414600" cy="25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F1F1F"/>
                </a:solidFill>
                <a:latin typeface="Calibri"/>
                <a:ea typeface="Calibri"/>
                <a:cs typeface="Calibri"/>
                <a:sym typeface="Calibri"/>
              </a:rPr>
              <a:t>Outlier Treatment:</a:t>
            </a:r>
            <a:endParaRPr sz="1800">
              <a:solidFill>
                <a:srgbClr val="1F1F1F"/>
              </a:solidFill>
              <a:latin typeface="Calibri"/>
              <a:ea typeface="Calibri"/>
              <a:cs typeface="Calibri"/>
              <a:sym typeface="Calibri"/>
            </a:endParaRPr>
          </a:p>
          <a:p>
            <a:pPr indent="0" lvl="0" marL="0" rtl="0" algn="l">
              <a:spcBef>
                <a:spcPts val="0"/>
              </a:spcBef>
              <a:spcAft>
                <a:spcPts val="0"/>
              </a:spcAft>
              <a:buNone/>
            </a:pPr>
            <a:r>
              <a:rPr lang="en-US" sz="1800">
                <a:solidFill>
                  <a:srgbClr val="1F1F1F"/>
                </a:solidFill>
                <a:latin typeface="Calibri"/>
                <a:ea typeface="Calibri"/>
                <a:cs typeface="Calibri"/>
                <a:sym typeface="Calibri"/>
              </a:rPr>
              <a:t>• We established quantile ranges on the training data and applied them to the test data for transformation.</a:t>
            </a:r>
            <a:endParaRPr sz="1800">
              <a:solidFill>
                <a:srgbClr val="1F1F1F"/>
              </a:solidFill>
              <a:latin typeface="Calibri"/>
              <a:ea typeface="Calibri"/>
              <a:cs typeface="Calibri"/>
              <a:sym typeface="Calibri"/>
            </a:endParaRPr>
          </a:p>
        </p:txBody>
      </p:sp>
      <p:pic>
        <p:nvPicPr>
          <p:cNvPr id="391" name="Google Shape;391;p13"/>
          <p:cNvPicPr preferRelativeResize="0"/>
          <p:nvPr/>
        </p:nvPicPr>
        <p:blipFill>
          <a:blip r:embed="rId3">
            <a:alphaModFix/>
          </a:blip>
          <a:stretch>
            <a:fillRect/>
          </a:stretch>
        </p:blipFill>
        <p:spPr>
          <a:xfrm>
            <a:off x="952500" y="1469675"/>
            <a:ext cx="10382249" cy="2599396"/>
          </a:xfrm>
          <a:prstGeom prst="rect">
            <a:avLst/>
          </a:prstGeom>
          <a:noFill/>
          <a:ln>
            <a:noFill/>
          </a:ln>
        </p:spPr>
      </p:pic>
      <p:sp>
        <p:nvSpPr>
          <p:cNvPr id="392" name="Google Shape;392;p13"/>
          <p:cNvSpPr txBox="1"/>
          <p:nvPr/>
        </p:nvSpPr>
        <p:spPr>
          <a:xfrm>
            <a:off x="581788" y="4267775"/>
            <a:ext cx="1797900" cy="23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2"/>
                </a:solidFill>
                <a:latin typeface="Calibri"/>
                <a:ea typeface="Calibri"/>
                <a:cs typeface="Calibri"/>
                <a:sym typeface="Calibri"/>
              </a:rPr>
              <a:t>Imputation:</a:t>
            </a:r>
            <a:endParaRPr sz="1800">
              <a:solidFill>
                <a:schemeClr val="dk2"/>
              </a:solidFill>
              <a:latin typeface="Calibri"/>
              <a:ea typeface="Calibri"/>
              <a:cs typeface="Calibri"/>
              <a:sym typeface="Calibri"/>
            </a:endParaRPr>
          </a:p>
          <a:p>
            <a:pPr indent="0" lvl="0" marL="0" rtl="0" algn="l">
              <a:spcBef>
                <a:spcPts val="0"/>
              </a:spcBef>
              <a:spcAft>
                <a:spcPts val="0"/>
              </a:spcAft>
              <a:buNone/>
            </a:pPr>
            <a:r>
              <a:rPr lang="en-US" sz="1800">
                <a:solidFill>
                  <a:schemeClr val="dk2"/>
                </a:solidFill>
                <a:latin typeface="Calibri"/>
                <a:ea typeface="Calibri"/>
                <a:cs typeface="Calibri"/>
                <a:sym typeface="Calibri"/>
              </a:rPr>
              <a:t>• Fill the null values with the median.</a:t>
            </a:r>
            <a:endParaRPr sz="1800">
              <a:solidFill>
                <a:schemeClr val="dk2"/>
              </a:solidFill>
              <a:latin typeface="Calibri"/>
              <a:ea typeface="Calibri"/>
              <a:cs typeface="Calibri"/>
              <a:sym typeface="Calibri"/>
            </a:endParaRPr>
          </a:p>
        </p:txBody>
      </p:sp>
      <p:sp>
        <p:nvSpPr>
          <p:cNvPr id="393" name="Google Shape;393;p13"/>
          <p:cNvSpPr txBox="1"/>
          <p:nvPr/>
        </p:nvSpPr>
        <p:spPr>
          <a:xfrm>
            <a:off x="7716600" y="4139275"/>
            <a:ext cx="3637200" cy="23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2"/>
                </a:solidFill>
                <a:latin typeface="Calibri"/>
                <a:ea typeface="Calibri"/>
                <a:cs typeface="Calibri"/>
                <a:sym typeface="Calibri"/>
              </a:rPr>
              <a:t>Scaling:</a:t>
            </a:r>
            <a:endParaRPr sz="1800">
              <a:solidFill>
                <a:schemeClr val="dk2"/>
              </a:solidFill>
              <a:latin typeface="Calibri"/>
              <a:ea typeface="Calibri"/>
              <a:cs typeface="Calibri"/>
              <a:sym typeface="Calibri"/>
            </a:endParaRPr>
          </a:p>
          <a:p>
            <a:pPr indent="0" lvl="0" marL="0" rtl="0" algn="l">
              <a:spcBef>
                <a:spcPts val="0"/>
              </a:spcBef>
              <a:spcAft>
                <a:spcPts val="0"/>
              </a:spcAft>
              <a:buNone/>
            </a:pPr>
            <a:r>
              <a:rPr lang="en-US" sz="1800">
                <a:solidFill>
                  <a:schemeClr val="dk2"/>
                </a:solidFill>
                <a:latin typeface="Calibri"/>
                <a:ea typeface="Calibri"/>
                <a:cs typeface="Calibri"/>
                <a:sym typeface="Calibri"/>
              </a:rPr>
              <a:t>• Utilizing a StandardScaler, we fitted it with the training data to enable transformation of the test datasets.</a:t>
            </a:r>
            <a:endParaRPr sz="1800">
              <a:solidFill>
                <a:schemeClr val="dk2"/>
              </a:solidFill>
              <a:latin typeface="Calibri"/>
              <a:ea typeface="Calibri"/>
              <a:cs typeface="Calibri"/>
              <a:sym typeface="Calibri"/>
            </a:endParaRPr>
          </a:p>
        </p:txBody>
      </p:sp>
      <p:sp>
        <p:nvSpPr>
          <p:cNvPr id="394" name="Google Shape;394;p13"/>
          <p:cNvSpPr/>
          <p:nvPr/>
        </p:nvSpPr>
        <p:spPr>
          <a:xfrm>
            <a:off x="2379700" y="4746400"/>
            <a:ext cx="804900" cy="456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13"/>
          <p:cNvSpPr/>
          <p:nvPr/>
        </p:nvSpPr>
        <p:spPr>
          <a:xfrm>
            <a:off x="6656900" y="4746400"/>
            <a:ext cx="804900" cy="456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Neural Network - Grid Search </a:t>
            </a:r>
            <a:endParaRPr/>
          </a:p>
        </p:txBody>
      </p:sp>
      <p:cxnSp>
        <p:nvCxnSpPr>
          <p:cNvPr id="401" name="Google Shape;401;p14"/>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402" name="Google Shape;402;p14"/>
          <p:cNvSpPr txBox="1"/>
          <p:nvPr/>
        </p:nvSpPr>
        <p:spPr>
          <a:xfrm>
            <a:off x="384675" y="1526950"/>
            <a:ext cx="6149700" cy="517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F1F1F"/>
                </a:solidFill>
                <a:latin typeface="Calibri"/>
                <a:ea typeface="Calibri"/>
                <a:cs typeface="Calibri"/>
                <a:sym typeface="Calibri"/>
              </a:rPr>
              <a:t>Reasons for Using Custom Parameters in a Neural Network Model:</a:t>
            </a:r>
            <a:endParaRPr sz="1800">
              <a:solidFill>
                <a:srgbClr val="1F1F1F"/>
              </a:solidFill>
              <a:latin typeface="Calibri"/>
              <a:ea typeface="Calibri"/>
              <a:cs typeface="Calibri"/>
              <a:sym typeface="Calibri"/>
            </a:endParaRPr>
          </a:p>
          <a:p>
            <a:pPr indent="0" lvl="0" marL="0" rtl="0" algn="l">
              <a:spcBef>
                <a:spcPts val="0"/>
              </a:spcBef>
              <a:spcAft>
                <a:spcPts val="0"/>
              </a:spcAft>
              <a:buNone/>
            </a:pPr>
            <a:r>
              <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More hidden layers help the model learn complex patterns.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Increasing nodes per layer boosts capacity but requires balance to avoid overfitting.</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ReLU works well for simpler tasks; Tanh suits more complex patterns.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Dropout (0.5) improves generalization by reducing reliance on specific neurons.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Small batch sizes (e.g., 100) can lead to overfitting due to frequent updates.</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Large batch sizes (e.g., 10,000) may underfit by updating weights too infrequently.</a:t>
            </a:r>
            <a:endParaRPr sz="1800">
              <a:solidFill>
                <a:srgbClr val="1F1F1F"/>
              </a:solidFill>
              <a:latin typeface="Calibri"/>
              <a:ea typeface="Calibri"/>
              <a:cs typeface="Calibri"/>
              <a:sym typeface="Calibri"/>
            </a:endParaRPr>
          </a:p>
          <a:p>
            <a:pPr indent="-342900" lvl="0" marL="457200" rtl="0" algn="l">
              <a:spcBef>
                <a:spcPts val="0"/>
              </a:spcBef>
              <a:spcAft>
                <a:spcPts val="0"/>
              </a:spcAft>
              <a:buClr>
                <a:srgbClr val="1F1F1F"/>
              </a:buClr>
              <a:buSzPts val="1800"/>
              <a:buFont typeface="Calibri"/>
              <a:buChar char="●"/>
            </a:pPr>
            <a:r>
              <a:rPr lang="en-US" sz="1800">
                <a:solidFill>
                  <a:srgbClr val="1F1F1F"/>
                </a:solidFill>
                <a:latin typeface="Calibri"/>
                <a:ea typeface="Calibri"/>
                <a:cs typeface="Calibri"/>
                <a:sym typeface="Calibri"/>
              </a:rPr>
              <a:t>Epochs control how many times the model cycles through the dataset.</a:t>
            </a:r>
            <a:endParaRPr sz="1800">
              <a:solidFill>
                <a:srgbClr val="1F1F1F"/>
              </a:solidFill>
              <a:latin typeface="Calibri"/>
              <a:ea typeface="Calibri"/>
              <a:cs typeface="Calibri"/>
              <a:sym typeface="Calibri"/>
            </a:endParaRPr>
          </a:p>
        </p:txBody>
      </p:sp>
      <p:pic>
        <p:nvPicPr>
          <p:cNvPr id="403" name="Google Shape;403;p14" title="Screenshot 2025-04-02 at 2.37.10 PM.png"/>
          <p:cNvPicPr preferRelativeResize="0"/>
          <p:nvPr/>
        </p:nvPicPr>
        <p:blipFill>
          <a:blip r:embed="rId3">
            <a:alphaModFix/>
          </a:blip>
          <a:stretch>
            <a:fillRect/>
          </a:stretch>
        </p:blipFill>
        <p:spPr>
          <a:xfrm>
            <a:off x="6640275" y="1526950"/>
            <a:ext cx="5231199" cy="4708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Neural Network - Grid Search </a:t>
            </a:r>
            <a:endParaRPr/>
          </a:p>
        </p:txBody>
      </p:sp>
      <p:cxnSp>
        <p:nvCxnSpPr>
          <p:cNvPr id="409" name="Google Shape;409;p15"/>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410" name="Google Shape;410;p15"/>
          <p:cNvSpPr txBox="1"/>
          <p:nvPr/>
        </p:nvSpPr>
        <p:spPr>
          <a:xfrm>
            <a:off x="441125" y="1512300"/>
            <a:ext cx="11517900" cy="517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700">
                <a:solidFill>
                  <a:schemeClr val="lt1"/>
                </a:solidFill>
                <a:latin typeface="Calibri"/>
                <a:ea typeface="Calibri"/>
                <a:cs typeface="Calibri"/>
                <a:sym typeface="Calibri"/>
              </a:rPr>
              <a:t>Create scatter plots for models of grid search, &amp; will choose best model based on scatter plot. </a:t>
            </a:r>
            <a:endParaRPr sz="2700">
              <a:solidFill>
                <a:schemeClr val="lt1"/>
              </a:solidFill>
              <a:latin typeface="Calibri"/>
              <a:ea typeface="Calibri"/>
              <a:cs typeface="Calibri"/>
              <a:sym typeface="Calibri"/>
            </a:endParaRPr>
          </a:p>
          <a:p>
            <a:pPr indent="-400050" lvl="0" marL="457200" rtl="0" algn="l">
              <a:spcBef>
                <a:spcPts val="0"/>
              </a:spcBef>
              <a:spcAft>
                <a:spcPts val="0"/>
              </a:spcAft>
              <a:buClr>
                <a:schemeClr val="lt1"/>
              </a:buClr>
              <a:buSzPts val="2700"/>
              <a:buFont typeface="Calibri"/>
              <a:buChar char="-"/>
            </a:pPr>
            <a:r>
              <a:rPr lang="en-US" sz="2700">
                <a:solidFill>
                  <a:schemeClr val="lt1"/>
                </a:solidFill>
                <a:latin typeface="Calibri"/>
                <a:ea typeface="Calibri"/>
                <a:cs typeface="Calibri"/>
                <a:sym typeface="Calibri"/>
              </a:rPr>
              <a:t>For each grid search models, calc avg &amp; stdev of auc across 3 samples (train and tests). </a:t>
            </a:r>
            <a:endParaRPr sz="2700">
              <a:solidFill>
                <a:schemeClr val="lt1"/>
              </a:solidFill>
              <a:latin typeface="Calibri"/>
              <a:ea typeface="Calibri"/>
              <a:cs typeface="Calibri"/>
              <a:sym typeface="Calibri"/>
            </a:endParaRPr>
          </a:p>
          <a:p>
            <a:pPr indent="-400050" lvl="0" marL="457200" rtl="0" algn="l">
              <a:spcBef>
                <a:spcPts val="0"/>
              </a:spcBef>
              <a:spcAft>
                <a:spcPts val="0"/>
              </a:spcAft>
              <a:buClr>
                <a:schemeClr val="lt1"/>
              </a:buClr>
              <a:buSzPts val="2700"/>
              <a:buFont typeface="Calibri"/>
              <a:buChar char="-"/>
            </a:pPr>
            <a:r>
              <a:rPr lang="en-US" sz="2700">
                <a:solidFill>
                  <a:schemeClr val="lt1"/>
                </a:solidFill>
                <a:latin typeface="Calibri"/>
                <a:ea typeface="Calibri"/>
                <a:cs typeface="Calibri"/>
                <a:sym typeface="Calibri"/>
              </a:rPr>
              <a:t>Then include 2 scatterplots in this slide. </a:t>
            </a:r>
            <a:endParaRPr sz="2700">
              <a:solidFill>
                <a:schemeClr val="lt1"/>
              </a:solidFill>
              <a:latin typeface="Calibri"/>
              <a:ea typeface="Calibri"/>
              <a:cs typeface="Calibri"/>
              <a:sym typeface="Calibri"/>
            </a:endParaRPr>
          </a:p>
          <a:p>
            <a:pPr indent="0" lvl="0" marL="0" rtl="0" algn="l">
              <a:spcBef>
                <a:spcPts val="0"/>
              </a:spcBef>
              <a:spcAft>
                <a:spcPts val="0"/>
              </a:spcAft>
              <a:buNone/>
            </a:pPr>
            <a:r>
              <a:t/>
            </a:r>
            <a:endParaRPr sz="2700">
              <a:solidFill>
                <a:schemeClr val="lt1"/>
              </a:solidFill>
              <a:latin typeface="Calibri"/>
              <a:ea typeface="Calibri"/>
              <a:cs typeface="Calibri"/>
              <a:sym typeface="Calibri"/>
            </a:endParaRPr>
          </a:p>
          <a:p>
            <a:pPr indent="0" lvl="0" marL="0" rtl="0" algn="l">
              <a:spcBef>
                <a:spcPts val="0"/>
              </a:spcBef>
              <a:spcAft>
                <a:spcPts val="0"/>
              </a:spcAft>
              <a:buNone/>
            </a:pPr>
            <a:r>
              <a:rPr lang="en-US" sz="2700">
                <a:solidFill>
                  <a:schemeClr val="lt1"/>
                </a:solidFill>
                <a:latin typeface="Calibri"/>
                <a:ea typeface="Calibri"/>
                <a:cs typeface="Calibri"/>
                <a:sym typeface="Calibri"/>
              </a:rPr>
              <a:t>First one - Avg AUC (x-axis), stdev of AUC (y-axis)</a:t>
            </a:r>
            <a:endParaRPr sz="2700">
              <a:solidFill>
                <a:schemeClr val="lt1"/>
              </a:solidFill>
              <a:latin typeface="Calibri"/>
              <a:ea typeface="Calibri"/>
              <a:cs typeface="Calibri"/>
              <a:sym typeface="Calibri"/>
            </a:endParaRPr>
          </a:p>
          <a:p>
            <a:pPr indent="0" lvl="0" marL="0" rtl="0" algn="l">
              <a:spcBef>
                <a:spcPts val="0"/>
              </a:spcBef>
              <a:spcAft>
                <a:spcPts val="0"/>
              </a:spcAft>
              <a:buNone/>
            </a:pPr>
            <a:r>
              <a:rPr lang="en-US" sz="2700">
                <a:solidFill>
                  <a:schemeClr val="lt1"/>
                </a:solidFill>
                <a:latin typeface="Calibri"/>
                <a:ea typeface="Calibri"/>
                <a:cs typeface="Calibri"/>
                <a:sym typeface="Calibri"/>
              </a:rPr>
              <a:t>Sec one - AUC of train sample (x-axis), AUC of test 2 sample (y-axis)</a:t>
            </a:r>
            <a:endParaRPr sz="2700">
              <a:solidFill>
                <a:schemeClr val="lt1"/>
              </a:solidFill>
              <a:latin typeface="Calibri"/>
              <a:ea typeface="Calibri"/>
              <a:cs typeface="Calibri"/>
              <a:sym typeface="Calibri"/>
            </a:endParaRPr>
          </a:p>
          <a:p>
            <a:pPr indent="0" lvl="0" marL="0" rtl="0" algn="l">
              <a:spcBef>
                <a:spcPts val="0"/>
              </a:spcBef>
              <a:spcAft>
                <a:spcPts val="0"/>
              </a:spcAft>
              <a:buNone/>
            </a:pPr>
            <a:r>
              <a:t/>
            </a:r>
            <a:endParaRPr sz="2700">
              <a:solidFill>
                <a:schemeClr val="lt1"/>
              </a:solidFill>
              <a:latin typeface="Calibri"/>
              <a:ea typeface="Calibri"/>
              <a:cs typeface="Calibri"/>
              <a:sym typeface="Calibri"/>
            </a:endParaRPr>
          </a:p>
          <a:p>
            <a:pPr indent="0" lvl="0" marL="0" rtl="0" algn="l">
              <a:spcBef>
                <a:spcPts val="0"/>
              </a:spcBef>
              <a:spcAft>
                <a:spcPts val="0"/>
              </a:spcAft>
              <a:buNone/>
            </a:pPr>
            <a:r>
              <a:rPr lang="en-US" sz="2700">
                <a:solidFill>
                  <a:schemeClr val="lt1"/>
                </a:solidFill>
                <a:latin typeface="Calibri"/>
                <a:ea typeface="Calibri"/>
                <a:cs typeface="Calibri"/>
                <a:sym typeface="Calibri"/>
              </a:rPr>
              <a:t>Explain which model you would choose based on each scatter.</a:t>
            </a:r>
            <a:endParaRPr sz="2700">
              <a:solidFill>
                <a:schemeClr val="lt1"/>
              </a:solidFill>
              <a:latin typeface="Calibri"/>
              <a:ea typeface="Calibri"/>
              <a:cs typeface="Calibri"/>
              <a:sym typeface="Calibri"/>
            </a:endParaRPr>
          </a:p>
        </p:txBody>
      </p:sp>
      <p:pic>
        <p:nvPicPr>
          <p:cNvPr id="411" name="Google Shape;411;p15"/>
          <p:cNvPicPr preferRelativeResize="0"/>
          <p:nvPr/>
        </p:nvPicPr>
        <p:blipFill>
          <a:blip r:embed="rId3">
            <a:alphaModFix/>
          </a:blip>
          <a:stretch>
            <a:fillRect/>
          </a:stretch>
        </p:blipFill>
        <p:spPr>
          <a:xfrm>
            <a:off x="684338" y="5255950"/>
            <a:ext cx="5263124" cy="415125"/>
          </a:xfrm>
          <a:prstGeom prst="rect">
            <a:avLst/>
          </a:prstGeom>
          <a:noFill/>
          <a:ln>
            <a:noFill/>
          </a:ln>
        </p:spPr>
      </p:pic>
      <p:pic>
        <p:nvPicPr>
          <p:cNvPr id="412" name="Google Shape;412;p15"/>
          <p:cNvPicPr preferRelativeResize="0"/>
          <p:nvPr/>
        </p:nvPicPr>
        <p:blipFill>
          <a:blip r:embed="rId4">
            <a:alphaModFix/>
          </a:blip>
          <a:stretch>
            <a:fillRect/>
          </a:stretch>
        </p:blipFill>
        <p:spPr>
          <a:xfrm>
            <a:off x="838202" y="1422000"/>
            <a:ext cx="4795451" cy="3482075"/>
          </a:xfrm>
          <a:prstGeom prst="rect">
            <a:avLst/>
          </a:prstGeom>
          <a:noFill/>
          <a:ln>
            <a:noFill/>
          </a:ln>
        </p:spPr>
      </p:pic>
      <p:pic>
        <p:nvPicPr>
          <p:cNvPr id="413" name="Google Shape;413;p15"/>
          <p:cNvPicPr preferRelativeResize="0"/>
          <p:nvPr/>
        </p:nvPicPr>
        <p:blipFill>
          <a:blip r:embed="rId5">
            <a:alphaModFix/>
          </a:blip>
          <a:stretch>
            <a:fillRect/>
          </a:stretch>
        </p:blipFill>
        <p:spPr>
          <a:xfrm>
            <a:off x="6407273" y="1512300"/>
            <a:ext cx="4579884" cy="3391775"/>
          </a:xfrm>
          <a:prstGeom prst="rect">
            <a:avLst/>
          </a:prstGeom>
          <a:noFill/>
          <a:ln>
            <a:noFill/>
          </a:ln>
        </p:spPr>
      </p:pic>
      <p:pic>
        <p:nvPicPr>
          <p:cNvPr id="414" name="Google Shape;414;p15"/>
          <p:cNvPicPr preferRelativeResize="0"/>
          <p:nvPr/>
        </p:nvPicPr>
        <p:blipFill>
          <a:blip r:embed="rId6">
            <a:alphaModFix/>
          </a:blip>
          <a:stretch>
            <a:fillRect/>
          </a:stretch>
        </p:blipFill>
        <p:spPr>
          <a:xfrm>
            <a:off x="6407275" y="5255950"/>
            <a:ext cx="5078775" cy="415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Neural Network – Final Model</a:t>
            </a:r>
            <a:endParaRPr/>
          </a:p>
        </p:txBody>
      </p:sp>
      <p:cxnSp>
        <p:nvCxnSpPr>
          <p:cNvPr id="420" name="Google Shape;420;p16"/>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421" name="Google Shape;421;p16"/>
          <p:cNvSpPr txBox="1"/>
          <p:nvPr/>
        </p:nvSpPr>
        <p:spPr>
          <a:xfrm>
            <a:off x="384675" y="1540575"/>
            <a:ext cx="11517900" cy="517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highlight>
                <a:srgbClr val="FFFF00"/>
              </a:highlight>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422" name="Google Shape;422;p16"/>
          <p:cNvPicPr preferRelativeResize="0"/>
          <p:nvPr/>
        </p:nvPicPr>
        <p:blipFill>
          <a:blip r:embed="rId3">
            <a:alphaModFix/>
          </a:blip>
          <a:stretch>
            <a:fillRect/>
          </a:stretch>
        </p:blipFill>
        <p:spPr>
          <a:xfrm>
            <a:off x="1657350" y="1690700"/>
            <a:ext cx="8877300" cy="609600"/>
          </a:xfrm>
          <a:prstGeom prst="rect">
            <a:avLst/>
          </a:prstGeom>
          <a:noFill/>
          <a:ln>
            <a:noFill/>
          </a:ln>
        </p:spPr>
      </p:pic>
      <p:pic>
        <p:nvPicPr>
          <p:cNvPr id="423" name="Google Shape;423;p16"/>
          <p:cNvPicPr preferRelativeResize="0"/>
          <p:nvPr/>
        </p:nvPicPr>
        <p:blipFill>
          <a:blip r:embed="rId4">
            <a:alphaModFix/>
          </a:blip>
          <a:stretch>
            <a:fillRect/>
          </a:stretch>
        </p:blipFill>
        <p:spPr>
          <a:xfrm>
            <a:off x="1777363" y="2450475"/>
            <a:ext cx="8637275" cy="4263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Final Model</a:t>
            </a:r>
            <a:endParaRPr/>
          </a:p>
        </p:txBody>
      </p:sp>
      <p:cxnSp>
        <p:nvCxnSpPr>
          <p:cNvPr id="429" name="Google Shape;429;p17"/>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sp>
        <p:nvSpPr>
          <p:cNvPr id="430" name="Google Shape;430;p17"/>
          <p:cNvSpPr txBox="1"/>
          <p:nvPr/>
        </p:nvSpPr>
        <p:spPr>
          <a:xfrm>
            <a:off x="633200" y="1512300"/>
            <a:ext cx="3461400" cy="15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Neural Network Model Performance:</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XGBoost Model </a:t>
            </a:r>
            <a:r>
              <a:rPr lang="en-US" sz="1800">
                <a:solidFill>
                  <a:schemeClr val="dk1"/>
                </a:solidFill>
                <a:latin typeface="Calibri"/>
                <a:ea typeface="Calibri"/>
                <a:cs typeface="Calibri"/>
                <a:sym typeface="Calibri"/>
              </a:rPr>
              <a:t>Performance</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31" name="Google Shape;431;p17"/>
          <p:cNvSpPr txBox="1"/>
          <p:nvPr/>
        </p:nvSpPr>
        <p:spPr>
          <a:xfrm>
            <a:off x="633200" y="3537600"/>
            <a:ext cx="11094600" cy="2985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US" sz="1800">
                <a:solidFill>
                  <a:schemeClr val="dk2"/>
                </a:solidFill>
              </a:rPr>
              <a:t>The XGB model has slightly higher AUC values for both training and testing datasets compared to the Neural Network Model. </a:t>
            </a:r>
            <a:endParaRPr sz="1800">
              <a:solidFill>
                <a:schemeClr val="dk2"/>
              </a:solidFill>
            </a:endParaRPr>
          </a:p>
          <a:p>
            <a:pPr indent="-342900" lvl="0" marL="457200" rtl="0" algn="l">
              <a:spcBef>
                <a:spcPts val="0"/>
              </a:spcBef>
              <a:spcAft>
                <a:spcPts val="0"/>
              </a:spcAft>
              <a:buClr>
                <a:schemeClr val="dk2"/>
              </a:buClr>
              <a:buSzPts val="1800"/>
              <a:buChar char="●"/>
            </a:pPr>
            <a:r>
              <a:rPr lang="en-US" sz="1800">
                <a:solidFill>
                  <a:schemeClr val="dk2"/>
                </a:solidFill>
              </a:rPr>
              <a:t>A higher AUC indicates better model performance in terms of correctly classifying positive and negative instances.</a:t>
            </a:r>
            <a:endParaRPr sz="1800">
              <a:solidFill>
                <a:schemeClr val="dk2"/>
              </a:solidFill>
            </a:endParaRPr>
          </a:p>
          <a:p>
            <a:pPr indent="-342900" lvl="0" marL="457200" rtl="0" algn="l">
              <a:spcBef>
                <a:spcPts val="0"/>
              </a:spcBef>
              <a:spcAft>
                <a:spcPts val="0"/>
              </a:spcAft>
              <a:buClr>
                <a:schemeClr val="dk2"/>
              </a:buClr>
              <a:buSzPts val="1800"/>
              <a:buChar char="●"/>
            </a:pPr>
            <a:r>
              <a:rPr lang="en-US" sz="1800">
                <a:solidFill>
                  <a:schemeClr val="dk2"/>
                </a:solidFill>
              </a:rPr>
              <a:t>The </a:t>
            </a:r>
            <a:r>
              <a:rPr lang="en-US" sz="1800">
                <a:solidFill>
                  <a:schemeClr val="dk2"/>
                </a:solidFill>
              </a:rPr>
              <a:t>interpretability</a:t>
            </a:r>
            <a:r>
              <a:rPr lang="en-US" sz="1800">
                <a:solidFill>
                  <a:schemeClr val="dk2"/>
                </a:solidFill>
              </a:rPr>
              <a:t> and speed of the XGBoost Model is also higher than Neural Networks.</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p:txBody>
      </p:sp>
      <p:pic>
        <p:nvPicPr>
          <p:cNvPr id="432" name="Google Shape;432;p17"/>
          <p:cNvPicPr preferRelativeResize="0"/>
          <p:nvPr/>
        </p:nvPicPr>
        <p:blipFill>
          <a:blip r:embed="rId3">
            <a:alphaModFix/>
          </a:blip>
          <a:stretch>
            <a:fillRect/>
          </a:stretch>
        </p:blipFill>
        <p:spPr>
          <a:xfrm>
            <a:off x="4233575" y="1662225"/>
            <a:ext cx="6072200" cy="513775"/>
          </a:xfrm>
          <a:prstGeom prst="rect">
            <a:avLst/>
          </a:prstGeom>
          <a:noFill/>
          <a:ln>
            <a:noFill/>
          </a:ln>
        </p:spPr>
      </p:pic>
      <p:pic>
        <p:nvPicPr>
          <p:cNvPr id="433" name="Google Shape;433;p17"/>
          <p:cNvPicPr preferRelativeResize="0"/>
          <p:nvPr/>
        </p:nvPicPr>
        <p:blipFill>
          <a:blip r:embed="rId4">
            <a:alphaModFix/>
          </a:blip>
          <a:stretch>
            <a:fillRect/>
          </a:stretch>
        </p:blipFill>
        <p:spPr>
          <a:xfrm>
            <a:off x="4247000" y="2328400"/>
            <a:ext cx="6072200" cy="571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57070"/>
              </a:buClr>
              <a:buSzPts val="4400"/>
              <a:buFont typeface="Calibri"/>
              <a:buNone/>
            </a:pPr>
            <a:r>
              <a:rPr lang="en-US">
                <a:solidFill>
                  <a:srgbClr val="757070"/>
                </a:solidFill>
              </a:rPr>
              <a:t>Strategy</a:t>
            </a:r>
            <a:endParaRPr/>
          </a:p>
        </p:txBody>
      </p:sp>
      <p:cxnSp>
        <p:nvCxnSpPr>
          <p:cNvPr id="439" name="Google Shape;439;p18"/>
          <p:cNvCxnSpPr/>
          <p:nvPr/>
        </p:nvCxnSpPr>
        <p:spPr>
          <a:xfrm>
            <a:off x="952500" y="1328984"/>
            <a:ext cx="10382250" cy="0"/>
          </a:xfrm>
          <a:prstGeom prst="straightConnector1">
            <a:avLst/>
          </a:prstGeom>
          <a:noFill/>
          <a:ln cap="flat" cmpd="sng" w="25400">
            <a:solidFill>
              <a:srgbClr val="8DA9DB"/>
            </a:solidFill>
            <a:prstDash val="solid"/>
            <a:miter lim="800000"/>
            <a:headEnd len="sm" w="sm" type="none"/>
            <a:tailEnd len="sm" w="sm" type="none"/>
          </a:ln>
        </p:spPr>
      </p:cxnSp>
      <p:graphicFrame>
        <p:nvGraphicFramePr>
          <p:cNvPr id="440" name="Google Shape;440;p18"/>
          <p:cNvGraphicFramePr/>
          <p:nvPr/>
        </p:nvGraphicFramePr>
        <p:xfrm>
          <a:off x="1714650" y="2637500"/>
          <a:ext cx="3000000" cy="3000000"/>
        </p:xfrm>
        <a:graphic>
          <a:graphicData uri="http://schemas.openxmlformats.org/drawingml/2006/table">
            <a:tbl>
              <a:tblPr>
                <a:noFill/>
                <a:tableStyleId>{9CE71C27-0CDF-4641-BA4E-4B8CD2B942D0}</a:tableStyleId>
              </a:tblPr>
              <a:tblGrid>
                <a:gridCol w="382850"/>
                <a:gridCol w="664600"/>
                <a:gridCol w="1025850"/>
                <a:gridCol w="1024200"/>
                <a:gridCol w="805825"/>
                <a:gridCol w="1023400"/>
                <a:gridCol w="973275"/>
                <a:gridCol w="776600"/>
                <a:gridCol w="1040550"/>
                <a:gridCol w="1056800"/>
                <a:gridCol w="789625"/>
              </a:tblGrid>
              <a:tr h="410800">
                <a:tc>
                  <a:txBody>
                    <a:bodyPr/>
                    <a:lstStyle/>
                    <a:p>
                      <a:pPr indent="0" lvl="0" marL="0" rtl="0" algn="l">
                        <a:spcBef>
                          <a:spcPts val="0"/>
                        </a:spcBef>
                        <a:spcAft>
                          <a:spcPts val="0"/>
                        </a:spcAft>
                        <a:buNone/>
                      </a:pPr>
                      <a:r>
                        <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Threshold</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Default rate_Train</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Revenue_Train</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 Total_Train</a:t>
                      </a:r>
                      <a:endParaRPr sz="1000">
                        <a:solidFill>
                          <a:srgbClr val="1F1F1F"/>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000">
                          <a:solidFill>
                            <a:srgbClr val="1F1F1F"/>
                          </a:solidFill>
                        </a:rPr>
                        <a:t>Default rate_test1</a:t>
                      </a:r>
                      <a:endParaRPr sz="1000">
                        <a:solidFill>
                          <a:srgbClr val="1F1F1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rgbClr val="1F1F1F"/>
                          </a:solidFill>
                        </a:rPr>
                        <a:t>Revenue_test1</a:t>
                      </a:r>
                      <a:endParaRPr sz="1000">
                        <a:solidFill>
                          <a:srgbClr val="1F1F1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rgbClr val="1F1F1F"/>
                          </a:solidFill>
                        </a:rPr>
                        <a:t># Total_test1</a:t>
                      </a:r>
                      <a:endParaRPr sz="1000">
                        <a:solidFill>
                          <a:srgbClr val="1F1F1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rgbClr val="1F1F1F"/>
                          </a:solidFill>
                        </a:rPr>
                        <a:t>Default </a:t>
                      </a:r>
                      <a:r>
                        <a:rPr lang="en-US" sz="1000">
                          <a:solidFill>
                            <a:srgbClr val="1F1F1F"/>
                          </a:solidFill>
                        </a:rPr>
                        <a:t>rate_test2</a:t>
                      </a:r>
                      <a:endParaRPr sz="1000">
                        <a:solidFill>
                          <a:srgbClr val="1F1F1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rgbClr val="1F1F1F"/>
                          </a:solidFill>
                        </a:rPr>
                        <a:t>Revenue_test2</a:t>
                      </a:r>
                      <a:endParaRPr sz="1000">
                        <a:solidFill>
                          <a:srgbClr val="1F1F1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rgbClr val="1F1F1F"/>
                          </a:solidFill>
                        </a:rPr>
                        <a:t># Total_test2</a:t>
                      </a:r>
                      <a:endParaRPr sz="1000">
                        <a:solidFill>
                          <a:srgbClr val="1F1F1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8825">
                <a:tc>
                  <a:txBody>
                    <a:bodyPr/>
                    <a:lstStyle/>
                    <a:p>
                      <a:pPr indent="0" lvl="0" marL="0" rtl="0" algn="ctr">
                        <a:spcBef>
                          <a:spcPts val="0"/>
                        </a:spcBef>
                        <a:spcAft>
                          <a:spcPts val="0"/>
                        </a:spcAft>
                        <a:buNone/>
                      </a:pPr>
                      <a:r>
                        <a:rPr lang="en-US" sz="1000">
                          <a:solidFill>
                            <a:srgbClr val="1F1F1F"/>
                          </a:solidFill>
                        </a:rPr>
                        <a:t>0</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0.1</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0.012922</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2802.624262</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0.011050</a:t>
                      </a:r>
                      <a:endParaRPr sz="1000">
                        <a:solidFill>
                          <a:srgbClr val="1F1F1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000">
                          <a:solidFill>
                            <a:srgbClr val="1F1F1F"/>
                          </a:solidFill>
                        </a:rPr>
                        <a:t>121.400358</a:t>
                      </a:r>
                      <a:endParaRPr sz="1000">
                        <a:solidFill>
                          <a:srgbClr val="1F1F1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000">
                          <a:solidFill>
                            <a:srgbClr val="1F1F1F"/>
                          </a:solidFill>
                        </a:rPr>
                        <a:t>13767</a:t>
                      </a:r>
                      <a:endParaRPr sz="1000">
                        <a:solidFill>
                          <a:srgbClr val="1F1F1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0.011406</a:t>
                      </a:r>
                      <a:endParaRPr sz="1000">
                        <a:solidFill>
                          <a:srgbClr val="1F1F1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125.902438</a:t>
                      </a:r>
                      <a:endParaRPr sz="1000">
                        <a:solidFill>
                          <a:srgbClr val="1F1F1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lnT cap="flat" cmpd="sng" w="9525">
                      <a:solidFill>
                        <a:srgbClr val="9E9E9E"/>
                      </a:solidFill>
                      <a:prstDash val="solid"/>
                      <a:round/>
                      <a:headEnd len="sm" w="sm" type="none"/>
                      <a:tailEnd len="sm" w="sm" type="none"/>
                    </a:lnT>
                  </a:tcPr>
                </a:tc>
              </a:tr>
              <a:tr h="288825">
                <a:tc>
                  <a:txBody>
                    <a:bodyPr/>
                    <a:lstStyle/>
                    <a:p>
                      <a:pPr indent="0" lvl="0" marL="0" rtl="0" algn="ctr">
                        <a:spcBef>
                          <a:spcPts val="0"/>
                        </a:spcBef>
                        <a:spcAft>
                          <a:spcPts val="0"/>
                        </a:spcAft>
                        <a:buNone/>
                      </a:pPr>
                      <a:r>
                        <a:rPr lang="en-US" sz="1000">
                          <a:solidFill>
                            <a:srgbClr val="1F1F1F"/>
                          </a:solidFill>
                        </a:rPr>
                        <a:t>1</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0.2</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0.032865</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3404.298493</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0.030817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149.683356</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13767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0.031879</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155.341311</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tc>
              </a:tr>
              <a:tr h="288825">
                <a:tc>
                  <a:txBody>
                    <a:bodyPr/>
                    <a:lstStyle/>
                    <a:p>
                      <a:pPr indent="0" lvl="0" marL="0" rtl="0" algn="ctr">
                        <a:spcBef>
                          <a:spcPts val="0"/>
                        </a:spcBef>
                        <a:spcAft>
                          <a:spcPts val="0"/>
                        </a:spcAft>
                        <a:buNone/>
                      </a:pPr>
                      <a:r>
                        <a:rPr lang="en-US" sz="1000">
                          <a:solidFill>
                            <a:srgbClr val="1F1F1F"/>
                          </a:solidFill>
                        </a:rPr>
                        <a:t>2</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0.3</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0.066485</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3925.646913</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0.064432</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175.060565</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13767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0.065989</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179.150701</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tc>
              </a:tr>
              <a:tr h="288825">
                <a:tc>
                  <a:txBody>
                    <a:bodyPr/>
                    <a:lstStyle/>
                    <a:p>
                      <a:pPr indent="0" lvl="0" marL="0" rtl="0" algn="ctr">
                        <a:spcBef>
                          <a:spcPts val="0"/>
                        </a:spcBef>
                        <a:spcAft>
                          <a:spcPts val="0"/>
                        </a:spcAft>
                        <a:buNone/>
                      </a:pPr>
                      <a:r>
                        <a:rPr lang="en-US" sz="1000">
                          <a:solidFill>
                            <a:srgbClr val="1F1F1F"/>
                          </a:solidFill>
                        </a:rPr>
                        <a:t>3</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0.4</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0.101141</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4304.725999</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0.097116</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191.242350</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13767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0.102779</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197.052668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tc>
              </a:tr>
              <a:tr h="288825">
                <a:tc>
                  <a:txBody>
                    <a:bodyPr/>
                    <a:lstStyle/>
                    <a:p>
                      <a:pPr indent="0" lvl="0" marL="0" rtl="0" algn="ctr">
                        <a:spcBef>
                          <a:spcPts val="0"/>
                        </a:spcBef>
                        <a:spcAft>
                          <a:spcPts val="0"/>
                        </a:spcAft>
                        <a:buNone/>
                      </a:pPr>
                      <a:r>
                        <a:rPr lang="en-US" sz="1000">
                          <a:solidFill>
                            <a:srgbClr val="1F1F1F"/>
                          </a:solidFill>
                        </a:rPr>
                        <a:t>4</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0.5</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0.133063</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4555.326684</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0.131255</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200.905021</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13767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0.134443</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208.870774</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tc>
              </a:tr>
              <a:tr h="288825">
                <a:tc>
                  <a:txBody>
                    <a:bodyPr/>
                    <a:lstStyle/>
                    <a:p>
                      <a:pPr indent="0" lvl="0" marL="0" rtl="0" algn="ctr">
                        <a:spcBef>
                          <a:spcPts val="0"/>
                        </a:spcBef>
                        <a:spcAft>
                          <a:spcPts val="0"/>
                        </a:spcAft>
                        <a:buNone/>
                      </a:pPr>
                      <a:r>
                        <a:rPr lang="en-US" sz="1000">
                          <a:solidFill>
                            <a:srgbClr val="1F1F1F"/>
                          </a:solidFill>
                        </a:rPr>
                        <a:t>5</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0.6</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0.163657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4700.229417</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0.162615</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206.109609</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13767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0.164722</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215.205545</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tc>
              </a:tr>
              <a:tr h="288825">
                <a:tc>
                  <a:txBody>
                    <a:bodyPr/>
                    <a:lstStyle/>
                    <a:p>
                      <a:pPr indent="0" lvl="0" marL="0" rtl="0" algn="ctr">
                        <a:spcBef>
                          <a:spcPts val="0"/>
                        </a:spcBef>
                        <a:spcAft>
                          <a:spcPts val="0"/>
                        </a:spcAft>
                        <a:buNone/>
                      </a:pPr>
                      <a:r>
                        <a:rPr lang="en-US" sz="1000">
                          <a:solidFill>
                            <a:srgbClr val="1F1F1F"/>
                          </a:solidFill>
                        </a:rPr>
                        <a:t>6</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0.7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0.191816</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4772.694469</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0.192501</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209.287820</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13767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0.193605</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217.663799</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tc>
              </a:tr>
              <a:tr h="288825">
                <a:tc>
                  <a:txBody>
                    <a:bodyPr/>
                    <a:lstStyle/>
                    <a:p>
                      <a:pPr indent="0" lvl="0" marL="0" rtl="0" algn="ctr">
                        <a:spcBef>
                          <a:spcPts val="0"/>
                        </a:spcBef>
                        <a:spcAft>
                          <a:spcPts val="0"/>
                        </a:spcAft>
                        <a:buNone/>
                      </a:pPr>
                      <a:r>
                        <a:rPr lang="en-US" sz="1000">
                          <a:solidFill>
                            <a:srgbClr val="1F1F1F"/>
                          </a:solidFill>
                        </a:rPr>
                        <a:t>7</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0.8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0.220136</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4810.796336</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0.220981</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211.745667</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13767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0.222819</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219.111952</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tc>
              </a:tr>
              <a:tr h="288825">
                <a:tc>
                  <a:txBody>
                    <a:bodyPr/>
                    <a:lstStyle/>
                    <a:p>
                      <a:pPr indent="0" lvl="0" marL="0" rtl="0" algn="ctr">
                        <a:spcBef>
                          <a:spcPts val="0"/>
                        </a:spcBef>
                        <a:spcAft>
                          <a:spcPts val="0"/>
                        </a:spcAft>
                        <a:buNone/>
                      </a:pPr>
                      <a:r>
                        <a:rPr lang="en-US" sz="1000">
                          <a:solidFill>
                            <a:srgbClr val="1F1F1F"/>
                          </a:solidFill>
                        </a:rPr>
                        <a:t>8</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0.9</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0.246136</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4834.801592</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0.246999</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212.464319</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13767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0.248765</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220.549379</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tc>
              </a:tr>
              <a:tr h="288825">
                <a:tc>
                  <a:txBody>
                    <a:bodyPr/>
                    <a:lstStyle/>
                    <a:p>
                      <a:pPr indent="0" lvl="0" marL="0" rtl="0" algn="ctr">
                        <a:spcBef>
                          <a:spcPts val="0"/>
                        </a:spcBef>
                        <a:spcAft>
                          <a:spcPts val="0"/>
                        </a:spcAft>
                        <a:buNone/>
                      </a:pPr>
                      <a:r>
                        <a:rPr lang="en-US" sz="1000">
                          <a:solidFill>
                            <a:srgbClr val="1F1F1F"/>
                          </a:solidFill>
                        </a:rPr>
                        <a:t>9</a:t>
                      </a:r>
                      <a:endParaRPr sz="1000">
                        <a:solidFill>
                          <a:srgbClr val="1F1F1F"/>
                        </a:solidFill>
                      </a:endParaRPr>
                    </a:p>
                  </a:txBody>
                  <a:tcPr marT="91425" marB="91425" marR="91425" marL="91425"/>
                </a:tc>
                <a:tc>
                  <a:txBody>
                    <a:bodyPr/>
                    <a:lstStyle/>
                    <a:p>
                      <a:pPr indent="0" lvl="0" marL="0" rtl="0" algn="ctr">
                        <a:spcBef>
                          <a:spcPts val="0"/>
                        </a:spcBef>
                        <a:spcAft>
                          <a:spcPts val="0"/>
                        </a:spcAft>
                        <a:buNone/>
                      </a:pPr>
                      <a:r>
                        <a:rPr lang="en-US" sz="1000">
                          <a:solidFill>
                            <a:srgbClr val="1F1F1F"/>
                          </a:solidFill>
                        </a:rPr>
                        <a:t>1.0</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0.255883</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4840.905666</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64248</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0.256556</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00">
                          <a:solidFill>
                            <a:srgbClr val="1F1F1F"/>
                          </a:solidFill>
                        </a:rPr>
                        <a:t>212.608066</a:t>
                      </a:r>
                      <a:endParaRPr sz="1000">
                        <a:solidFill>
                          <a:srgbClr val="1F1F1F"/>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000">
                          <a:solidFill>
                            <a:srgbClr val="1F1F1F"/>
                          </a:solidFill>
                        </a:rPr>
                        <a:t>13767</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0.259370</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220.549379</a:t>
                      </a:r>
                      <a:endParaRPr sz="1000">
                        <a:solidFill>
                          <a:srgbClr val="1F1F1F"/>
                        </a:solidFill>
                      </a:endParaRPr>
                    </a:p>
                  </a:txBody>
                  <a:tcPr marT="91425" marB="91425" marR="91425" marL="91425"/>
                </a:tc>
                <a:tc>
                  <a:txBody>
                    <a:bodyPr/>
                    <a:lstStyle/>
                    <a:p>
                      <a:pPr indent="0" lvl="0" marL="0" rtl="0" algn="l">
                        <a:spcBef>
                          <a:spcPts val="0"/>
                        </a:spcBef>
                        <a:spcAft>
                          <a:spcPts val="0"/>
                        </a:spcAft>
                        <a:buNone/>
                      </a:pPr>
                      <a:r>
                        <a:rPr lang="en-US" sz="1050">
                          <a:solidFill>
                            <a:srgbClr val="1F1F1F"/>
                          </a:solidFill>
                          <a:latin typeface="Roboto"/>
                          <a:ea typeface="Roboto"/>
                          <a:cs typeface="Roboto"/>
                          <a:sym typeface="Roboto"/>
                        </a:rPr>
                        <a:t>13768</a:t>
                      </a:r>
                      <a:endParaRPr sz="1000">
                        <a:solidFill>
                          <a:srgbClr val="1F1F1F"/>
                        </a:solidFill>
                      </a:endParaRPr>
                    </a:p>
                  </a:txBody>
                  <a:tcPr marT="91425" marB="91425" marR="91425" marL="91425"/>
                </a:tc>
              </a:tr>
            </a:tbl>
          </a:graphicData>
        </a:graphic>
      </p:graphicFrame>
      <p:sp>
        <p:nvSpPr>
          <p:cNvPr id="441" name="Google Shape;441;p18"/>
          <p:cNvSpPr txBox="1"/>
          <p:nvPr/>
        </p:nvSpPr>
        <p:spPr>
          <a:xfrm>
            <a:off x="1012375" y="1261875"/>
            <a:ext cx="5097900" cy="10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2"/>
              </a:solidFill>
            </a:endParaRPr>
          </a:p>
        </p:txBody>
      </p:sp>
      <p:pic>
        <p:nvPicPr>
          <p:cNvPr id="442" name="Google Shape;442;p18"/>
          <p:cNvPicPr preferRelativeResize="0"/>
          <p:nvPr/>
        </p:nvPicPr>
        <p:blipFill>
          <a:blip r:embed="rId3">
            <a:alphaModFix/>
          </a:blip>
          <a:stretch>
            <a:fillRect/>
          </a:stretch>
        </p:blipFill>
        <p:spPr>
          <a:xfrm>
            <a:off x="6031901" y="1453726"/>
            <a:ext cx="5980774" cy="1059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2022-12-19T21:05:36Z</dcterms:created>
  <dc:creator>Amir Zemoodeh</dc:creator>
</cp:coreProperties>
</file>